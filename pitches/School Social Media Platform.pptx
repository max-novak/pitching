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2.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3.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embeddedFontLst>
    <p:embeddedFont>
      <p:font typeface="Lato" panose="020B0604020202020204" charset="0"/>
      <p:regular r:id="rId37"/>
      <p:bold r:id="rId38"/>
      <p:italic r:id="rId39"/>
      <p:boldItalic r:id="rId40"/>
    </p:embeddedFont>
    <p:embeddedFont>
      <p:font typeface="Montserrat" panose="020B060402020202020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x Nova" initials="" lastIdx="9"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14" y="54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theme" Target="theme/theme1.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9-06-20T18:22:58.503" idx="1">
    <p:pos x="6000" y="0"/>
    <p:text>alliteration and onomatopoeia</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9-06-19T22:29:35.703" idx="3">
    <p:pos x="6000" y="0"/>
    <p:text>the most common answer when I interviewed people on why they enjoy school the answer was: friends</p:text>
  </p:cm>
  <p:cm authorId="0" dt="2019-06-19T22:34:11.556" idx="4">
    <p:pos x="6000" y="0"/>
    <p:text>todo</p:text>
  </p:cm>
  <p:cm authorId="0" dt="2019-06-19T23:02:18.112" idx="5">
    <p:pos x="6000" y="0"/>
    <p:text>research NICHE and school rating apps, can we steal or stay away?</p:text>
  </p:cm>
  <p:cm authorId="0" dt="2019-06-19T23:20:55.170" idx="6">
    <p:pos x="6000" y="0"/>
    <p:text>add TONS OF GAMIFICATION
KHAN ACADEMY
STACK OVERFLOW
DISCOUNT CARDS FROM SHOPS</p:text>
  </p:cm>
  <p:cm authorId="0" dt="2019-06-20T16:25:07.199" idx="7">
    <p:pos x="6000" y="0"/>
    <p:text>video series such they are slow --&gt; khan is bad --&gt; imagine a khan academy of cheatsheets</p:text>
  </p:cm>
  <p:cm authorId="0" dt="2019-06-20T18:12:06.605" idx="2">
    <p:pos x="6000" y="0"/>
    <p:text>problems and solutions</p:text>
  </p:cm>
  <p:cm authorId="0" dt="2019-06-20T18:12:06.605" idx="8">
    <p:pos x="6000" y="0"/>
    <p:text>Focus on the most important capabilites</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19-06-19T03:10:36.901" idx="9">
    <p:pos x="6000" y="0"/>
    <p:text>hackathons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5bf66c886a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5bf66c886a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5bf66c886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5bf66c886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5bf66c886a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5bf66c886a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5bf66c886a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5bf66c886a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5c0896f42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5c0896f4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6acc29586329226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6acc29586329226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5c0896f42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5c0896f42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c0896f421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c0896f42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5c0896f421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5c0896f42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5b8696c422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5b8696c422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5b8696c422_1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5b8696c422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5b8696c422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5b8696c422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5b8696c422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5b8696c422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5b8696c422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5b8696c4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5b8696c422_1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5b8696c422_1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5b8696c422_1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5b8696c422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5b8696c422_1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5b8696c422_1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5bf66c886a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5bf66c886a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5b8696c422_1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5b8696c422_1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5bf66c886a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5bf66c886a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5b8696c422_1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5b8696c422_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5b8696c422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5b8696c422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5b8696c422_1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5b8696c422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5b8696c422_1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5b8696c422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5b8696c422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5b8696c422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5b8696c422_1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5b8696c422_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5bf66c886a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5bf66c886a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5bf66c886a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5bf66c886a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5b8696c422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5b8696c422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5b8696c422_1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5b8696c422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5b8696c422_1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b8696c422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5b8696c422_1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5b8696c422_1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5bf66c886a_0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5bf66c886a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90iRQbd0fg"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hyperlink" Target="http://www.youtube.com/watch?v=-90iRQbd0f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xP-ZwmCPBAs"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hyperlink" Target="http://www.youtube.com/watch?v=xP-ZwmCPBA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UdjGiIn9HMM"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0.jpg"/><Relationship Id="rId4" Type="http://schemas.openxmlformats.org/officeDocument/2006/relationships/hyperlink" Target="http://www.youtube.com/watch?v=UdjGiIn9HM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cFEarBzelBs"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1.jpg"/><Relationship Id="rId4" Type="http://schemas.openxmlformats.org/officeDocument/2006/relationships/hyperlink" Target="http://www.youtube.com/watch?v=cFEarBzelB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w61d-NBqafM"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4.jpg"/><Relationship Id="rId4" Type="http://schemas.openxmlformats.org/officeDocument/2006/relationships/hyperlink" Target="http://www.youtube.com/watch?v=w61d-NBqafM"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www.youtube.com/watch?v=LYu-d6y5HRo&amp;t=0m36s"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5.jpg"/><Relationship Id="rId4" Type="http://schemas.openxmlformats.org/officeDocument/2006/relationships/hyperlink" Target="http://www.youtube.com/watch?v=LYu-d6y5HRo"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24.xml.rels><?xml version="1.0" encoding="UTF-8" standalone="yes"?>
<Relationships xmlns="http://schemas.openxmlformats.org/package/2006/relationships"><Relationship Id="rId3" Type="http://schemas.openxmlformats.org/officeDocument/2006/relationships/hyperlink" Target="http://www.youtube.com/watch?v=xbiDrzTd8fE&amp;t=0m51s"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18.jpg"/><Relationship Id="rId4" Type="http://schemas.openxmlformats.org/officeDocument/2006/relationships/hyperlink" Target="http://www.youtube.com/watch?v=xbiDrzTd8fE"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www.youtube.com/watch?v=DnNnzZ6Ta2c"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hyperlink" Target="https://www.youtube.com/watch?v=DnNnzZ6Ta2c" TargetMode="External"/><Relationship Id="rId4" Type="http://schemas.openxmlformats.org/officeDocument/2006/relationships/image" Target="../media/image19.jpg"/></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mVWid90Wwxs"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21.jpg"/><Relationship Id="rId4" Type="http://schemas.openxmlformats.org/officeDocument/2006/relationships/hyperlink" Target="http://www.youtube.com/watch?v=mVWid90Wwxs"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www.youtube.com/watch?v=ZDYGogxH3hw&amp;t=3m45s"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22.jpg"/><Relationship Id="rId4" Type="http://schemas.openxmlformats.org/officeDocument/2006/relationships/hyperlink" Target="http://www.youtube.com/watch?v=ZDYGogxH3hw"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Social Media Platform</a:t>
            </a:r>
            <a:endParaRPr/>
          </a:p>
        </p:txBody>
      </p:sp>
      <p:sp>
        <p:nvSpPr>
          <p:cNvPr id="135" name="Google Shape;135;p13"/>
          <p:cNvSpPr txBox="1">
            <a:spLocks noGrp="1"/>
          </p:cNvSpPr>
          <p:nvPr>
            <p:ph type="subTitle" idx="1"/>
          </p:nvPr>
        </p:nvSpPr>
        <p:spPr>
          <a:xfrm>
            <a:off x="1063875" y="3687525"/>
            <a:ext cx="4888500" cy="101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Integrated classroom experience for students by students</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Common Model</a:t>
            </a:r>
            <a:endParaRPr/>
          </a:p>
        </p:txBody>
      </p:sp>
      <p:sp>
        <p:nvSpPr>
          <p:cNvPr id="141" name="Google Shape;141;p14"/>
          <p:cNvSpPr txBox="1">
            <a:spLocks noGrp="1"/>
          </p:cNvSpPr>
          <p:nvPr>
            <p:ph type="body" idx="1"/>
          </p:nvPr>
        </p:nvSpPr>
        <p:spPr>
          <a:xfrm>
            <a:off x="6084275" y="2885400"/>
            <a:ext cx="2637900" cy="2131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b="1"/>
              <a:t>They solve a problem teachers and school admins have</a:t>
            </a:r>
            <a:endParaRPr sz="1600" b="1"/>
          </a:p>
          <a:p>
            <a:pPr marL="457200" lvl="0" indent="-330200" algn="l" rtl="0">
              <a:spcBef>
                <a:spcPts val="0"/>
              </a:spcBef>
              <a:spcAft>
                <a:spcPts val="0"/>
              </a:spcAft>
              <a:buSzPts val="1600"/>
              <a:buChar char="●"/>
            </a:pPr>
            <a:r>
              <a:rPr lang="en" sz="1600" b="1"/>
              <a:t>Students should have more influence in their education</a:t>
            </a:r>
            <a:endParaRPr sz="1600" b="1"/>
          </a:p>
        </p:txBody>
      </p:sp>
      <p:pic>
        <p:nvPicPr>
          <p:cNvPr id="142" name="Google Shape;142;p14"/>
          <p:cNvPicPr preferRelativeResize="0"/>
          <p:nvPr/>
        </p:nvPicPr>
        <p:blipFill>
          <a:blip r:embed="rId3">
            <a:alphaModFix/>
          </a:blip>
          <a:stretch>
            <a:fillRect/>
          </a:stretch>
        </p:blipFill>
        <p:spPr>
          <a:xfrm>
            <a:off x="803025" y="3245075"/>
            <a:ext cx="2066925" cy="942975"/>
          </a:xfrm>
          <a:prstGeom prst="rect">
            <a:avLst/>
          </a:prstGeom>
          <a:noFill/>
          <a:ln>
            <a:noFill/>
          </a:ln>
        </p:spPr>
      </p:pic>
      <p:sp>
        <p:nvSpPr>
          <p:cNvPr id="143" name="Google Shape;143;p14"/>
          <p:cNvSpPr txBox="1"/>
          <p:nvPr/>
        </p:nvSpPr>
        <p:spPr>
          <a:xfrm>
            <a:off x="745538" y="4352200"/>
            <a:ext cx="2181900" cy="42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Synergy - Grade Portal</a:t>
            </a:r>
            <a:endParaRPr b="1">
              <a:solidFill>
                <a:srgbClr val="FFFFFF"/>
              </a:solidFill>
              <a:latin typeface="Lato"/>
              <a:ea typeface="Lato"/>
              <a:cs typeface="Lato"/>
              <a:sym typeface="Lato"/>
            </a:endParaRPr>
          </a:p>
        </p:txBody>
      </p:sp>
      <p:pic>
        <p:nvPicPr>
          <p:cNvPr id="144" name="Google Shape;144;p14"/>
          <p:cNvPicPr preferRelativeResize="0"/>
          <p:nvPr/>
        </p:nvPicPr>
        <p:blipFill>
          <a:blip r:embed="rId4">
            <a:alphaModFix/>
          </a:blip>
          <a:stretch>
            <a:fillRect/>
          </a:stretch>
        </p:blipFill>
        <p:spPr>
          <a:xfrm>
            <a:off x="6084278" y="770725"/>
            <a:ext cx="2480724" cy="1396575"/>
          </a:xfrm>
          <a:prstGeom prst="rect">
            <a:avLst/>
          </a:prstGeom>
          <a:noFill/>
          <a:ln>
            <a:noFill/>
          </a:ln>
        </p:spPr>
      </p:pic>
      <p:sp>
        <p:nvSpPr>
          <p:cNvPr id="145" name="Google Shape;145;p14"/>
          <p:cNvSpPr txBox="1"/>
          <p:nvPr/>
        </p:nvSpPr>
        <p:spPr>
          <a:xfrm>
            <a:off x="6233675" y="2253750"/>
            <a:ext cx="2558700" cy="42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Edmodo - Student Classroom</a:t>
            </a:r>
            <a:endParaRPr b="1">
              <a:solidFill>
                <a:srgbClr val="FFFFFF"/>
              </a:solidFill>
              <a:latin typeface="Lato"/>
              <a:ea typeface="Lato"/>
              <a:cs typeface="Lato"/>
              <a:sym typeface="Lato"/>
            </a:endParaRPr>
          </a:p>
        </p:txBody>
      </p:sp>
      <p:pic>
        <p:nvPicPr>
          <p:cNvPr id="146" name="Google Shape;146;p14"/>
          <p:cNvPicPr preferRelativeResize="0"/>
          <p:nvPr/>
        </p:nvPicPr>
        <p:blipFill>
          <a:blip r:embed="rId5">
            <a:alphaModFix/>
          </a:blip>
          <a:stretch>
            <a:fillRect/>
          </a:stretch>
        </p:blipFill>
        <p:spPr>
          <a:xfrm>
            <a:off x="1475725" y="947374"/>
            <a:ext cx="1527350" cy="1527350"/>
          </a:xfrm>
          <a:prstGeom prst="rect">
            <a:avLst/>
          </a:prstGeom>
          <a:noFill/>
          <a:ln>
            <a:noFill/>
          </a:ln>
        </p:spPr>
      </p:pic>
      <p:pic>
        <p:nvPicPr>
          <p:cNvPr id="147" name="Google Shape;147;p14"/>
          <p:cNvPicPr preferRelativeResize="0"/>
          <p:nvPr/>
        </p:nvPicPr>
        <p:blipFill>
          <a:blip r:embed="rId6">
            <a:alphaModFix/>
          </a:blip>
          <a:stretch>
            <a:fillRect/>
          </a:stretch>
        </p:blipFill>
        <p:spPr>
          <a:xfrm>
            <a:off x="3630998" y="1375127"/>
            <a:ext cx="1974750" cy="1974750"/>
          </a:xfrm>
          <a:prstGeom prst="rect">
            <a:avLst/>
          </a:prstGeom>
          <a:noFill/>
          <a:ln>
            <a:noFill/>
          </a:ln>
        </p:spPr>
      </p:pic>
      <p:sp>
        <p:nvSpPr>
          <p:cNvPr id="148" name="Google Shape;148;p14"/>
          <p:cNvSpPr txBox="1"/>
          <p:nvPr/>
        </p:nvSpPr>
        <p:spPr>
          <a:xfrm>
            <a:off x="3631000" y="3505532"/>
            <a:ext cx="2181900" cy="68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Google Classroom  - Student Classroom</a:t>
            </a:r>
            <a:endParaRPr b="1">
              <a:solidFill>
                <a:srgbClr val="FFFFFF"/>
              </a:solidFill>
              <a:latin typeface="Lato"/>
              <a:ea typeface="Lato"/>
              <a:cs typeface="Lato"/>
              <a:sym typeface="Lato"/>
            </a:endParaRPr>
          </a:p>
        </p:txBody>
      </p:sp>
      <p:sp>
        <p:nvSpPr>
          <p:cNvPr id="149" name="Google Shape;149;p14"/>
          <p:cNvSpPr txBox="1"/>
          <p:nvPr/>
        </p:nvSpPr>
        <p:spPr>
          <a:xfrm>
            <a:off x="873375" y="2571750"/>
            <a:ext cx="2400300" cy="42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Canvas - Student Classroom</a:t>
            </a:r>
            <a:endParaRPr b="1">
              <a:solidFill>
                <a:srgbClr val="FFFFFF"/>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Product facing directions</a:t>
            </a:r>
            <a:endParaRPr/>
          </a:p>
        </p:txBody>
      </p:sp>
      <p:sp>
        <p:nvSpPr>
          <p:cNvPr id="155" name="Google Shape;155;p15"/>
          <p:cNvSpPr/>
          <p:nvPr/>
        </p:nvSpPr>
        <p:spPr>
          <a:xfrm>
            <a:off x="3390900" y="3426850"/>
            <a:ext cx="1670400" cy="7518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p:cNvSpPr/>
          <p:nvPr/>
        </p:nvSpPr>
        <p:spPr>
          <a:xfrm>
            <a:off x="967150" y="3426850"/>
            <a:ext cx="1670400" cy="7518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p:nvPr/>
        </p:nvSpPr>
        <p:spPr>
          <a:xfrm>
            <a:off x="5814650" y="3426850"/>
            <a:ext cx="1670400" cy="7518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5"/>
          <p:cNvSpPr/>
          <p:nvPr/>
        </p:nvSpPr>
        <p:spPr>
          <a:xfrm>
            <a:off x="3390900" y="1991450"/>
            <a:ext cx="1670400" cy="7518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5"/>
          <p:cNvSpPr/>
          <p:nvPr/>
        </p:nvSpPr>
        <p:spPr>
          <a:xfrm>
            <a:off x="967150" y="1991450"/>
            <a:ext cx="1670400" cy="7518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p:cNvSpPr/>
          <p:nvPr/>
        </p:nvSpPr>
        <p:spPr>
          <a:xfrm>
            <a:off x="5814650" y="1991450"/>
            <a:ext cx="1670400" cy="7518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5"/>
          <p:cNvSpPr txBox="1"/>
          <p:nvPr/>
        </p:nvSpPr>
        <p:spPr>
          <a:xfrm>
            <a:off x="1270450" y="2169050"/>
            <a:ext cx="10638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Company</a:t>
            </a:r>
            <a:endParaRPr b="1">
              <a:solidFill>
                <a:srgbClr val="FFFFFF"/>
              </a:solidFill>
              <a:latin typeface="Lato"/>
              <a:ea typeface="Lato"/>
              <a:cs typeface="Lato"/>
              <a:sym typeface="Lato"/>
            </a:endParaRPr>
          </a:p>
        </p:txBody>
      </p:sp>
      <p:cxnSp>
        <p:nvCxnSpPr>
          <p:cNvPr id="162" name="Google Shape;162;p15"/>
          <p:cNvCxnSpPr>
            <a:endCxn id="158" idx="1"/>
          </p:cNvCxnSpPr>
          <p:nvPr/>
        </p:nvCxnSpPr>
        <p:spPr>
          <a:xfrm rot="10800000" flipH="1">
            <a:off x="2664000" y="2367350"/>
            <a:ext cx="726900" cy="6600"/>
          </a:xfrm>
          <a:prstGeom prst="straightConnector1">
            <a:avLst/>
          </a:prstGeom>
          <a:noFill/>
          <a:ln w="28575" cap="flat" cmpd="sng">
            <a:solidFill>
              <a:schemeClr val="dk2"/>
            </a:solidFill>
            <a:prstDash val="solid"/>
            <a:round/>
            <a:headEnd type="none" w="med" len="med"/>
            <a:tailEnd type="triangle" w="med" len="med"/>
          </a:ln>
        </p:spPr>
      </p:cxnSp>
      <p:cxnSp>
        <p:nvCxnSpPr>
          <p:cNvPr id="163" name="Google Shape;163;p15"/>
          <p:cNvCxnSpPr/>
          <p:nvPr/>
        </p:nvCxnSpPr>
        <p:spPr>
          <a:xfrm rot="10800000" flipH="1">
            <a:off x="5074525" y="2367350"/>
            <a:ext cx="726900" cy="6600"/>
          </a:xfrm>
          <a:prstGeom prst="straightConnector1">
            <a:avLst/>
          </a:prstGeom>
          <a:noFill/>
          <a:ln w="28575" cap="flat" cmpd="sng">
            <a:solidFill>
              <a:schemeClr val="dk2"/>
            </a:solidFill>
            <a:prstDash val="solid"/>
            <a:round/>
            <a:headEnd type="none" w="med" len="med"/>
            <a:tailEnd type="triangle" w="med" len="med"/>
          </a:ln>
        </p:spPr>
      </p:cxnSp>
      <p:cxnSp>
        <p:nvCxnSpPr>
          <p:cNvPr id="164" name="Google Shape;164;p15"/>
          <p:cNvCxnSpPr>
            <a:stCxn id="155" idx="1"/>
            <a:endCxn id="156" idx="3"/>
          </p:cNvCxnSpPr>
          <p:nvPr/>
        </p:nvCxnSpPr>
        <p:spPr>
          <a:xfrm rot="10800000">
            <a:off x="2637600" y="3802750"/>
            <a:ext cx="753300" cy="0"/>
          </a:xfrm>
          <a:prstGeom prst="straightConnector1">
            <a:avLst/>
          </a:prstGeom>
          <a:noFill/>
          <a:ln w="28575" cap="flat" cmpd="sng">
            <a:solidFill>
              <a:schemeClr val="dk2"/>
            </a:solidFill>
            <a:prstDash val="solid"/>
            <a:round/>
            <a:headEnd type="none" w="med" len="med"/>
            <a:tailEnd type="triangle" w="med" len="med"/>
          </a:ln>
        </p:spPr>
      </p:cxnSp>
      <p:cxnSp>
        <p:nvCxnSpPr>
          <p:cNvPr id="165" name="Google Shape;165;p15"/>
          <p:cNvCxnSpPr>
            <a:stCxn id="157" idx="1"/>
            <a:endCxn id="155" idx="3"/>
          </p:cNvCxnSpPr>
          <p:nvPr/>
        </p:nvCxnSpPr>
        <p:spPr>
          <a:xfrm rot="10800000">
            <a:off x="5061350" y="3802750"/>
            <a:ext cx="753300" cy="0"/>
          </a:xfrm>
          <a:prstGeom prst="straightConnector1">
            <a:avLst/>
          </a:prstGeom>
          <a:noFill/>
          <a:ln w="28575" cap="flat" cmpd="sng">
            <a:solidFill>
              <a:schemeClr val="dk2"/>
            </a:solidFill>
            <a:prstDash val="solid"/>
            <a:round/>
            <a:headEnd type="none" w="med" len="med"/>
            <a:tailEnd type="triangle" w="med" len="med"/>
          </a:ln>
        </p:spPr>
      </p:cxnSp>
      <p:sp>
        <p:nvSpPr>
          <p:cNvPr id="166" name="Google Shape;166;p15"/>
          <p:cNvSpPr txBox="1"/>
          <p:nvPr/>
        </p:nvSpPr>
        <p:spPr>
          <a:xfrm>
            <a:off x="3661213" y="2169050"/>
            <a:ext cx="11430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Educators</a:t>
            </a:r>
            <a:endParaRPr b="1">
              <a:solidFill>
                <a:srgbClr val="FFFFFF"/>
              </a:solidFill>
              <a:latin typeface="Lato"/>
              <a:ea typeface="Lato"/>
              <a:cs typeface="Lato"/>
              <a:sym typeface="Lato"/>
            </a:endParaRPr>
          </a:p>
        </p:txBody>
      </p:sp>
      <p:sp>
        <p:nvSpPr>
          <p:cNvPr id="167" name="Google Shape;167;p15"/>
          <p:cNvSpPr txBox="1"/>
          <p:nvPr/>
        </p:nvSpPr>
        <p:spPr>
          <a:xfrm>
            <a:off x="6157550" y="2169050"/>
            <a:ext cx="9846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Students</a:t>
            </a:r>
            <a:endParaRPr b="1">
              <a:solidFill>
                <a:srgbClr val="FFFFFF"/>
              </a:solidFill>
              <a:latin typeface="Lato"/>
              <a:ea typeface="Lato"/>
              <a:cs typeface="Lato"/>
              <a:sym typeface="Lato"/>
            </a:endParaRPr>
          </a:p>
        </p:txBody>
      </p:sp>
      <p:sp>
        <p:nvSpPr>
          <p:cNvPr id="168" name="Google Shape;168;p15"/>
          <p:cNvSpPr txBox="1"/>
          <p:nvPr/>
        </p:nvSpPr>
        <p:spPr>
          <a:xfrm>
            <a:off x="1230838" y="3604450"/>
            <a:ext cx="11430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Educators</a:t>
            </a:r>
            <a:endParaRPr b="1">
              <a:solidFill>
                <a:srgbClr val="FFFFFF"/>
              </a:solidFill>
              <a:latin typeface="Lato"/>
              <a:ea typeface="Lato"/>
              <a:cs typeface="Lato"/>
              <a:sym typeface="Lato"/>
            </a:endParaRPr>
          </a:p>
        </p:txBody>
      </p:sp>
      <p:sp>
        <p:nvSpPr>
          <p:cNvPr id="169" name="Google Shape;169;p15"/>
          <p:cNvSpPr txBox="1"/>
          <p:nvPr/>
        </p:nvSpPr>
        <p:spPr>
          <a:xfrm>
            <a:off x="3733825" y="3604450"/>
            <a:ext cx="9846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Students</a:t>
            </a:r>
            <a:endParaRPr b="1">
              <a:solidFill>
                <a:srgbClr val="FFFFFF"/>
              </a:solidFill>
              <a:latin typeface="Lato"/>
              <a:ea typeface="Lato"/>
              <a:cs typeface="Lato"/>
              <a:sym typeface="Lato"/>
            </a:endParaRPr>
          </a:p>
        </p:txBody>
      </p:sp>
      <p:sp>
        <p:nvSpPr>
          <p:cNvPr id="170" name="Google Shape;170;p15"/>
          <p:cNvSpPr txBox="1"/>
          <p:nvPr/>
        </p:nvSpPr>
        <p:spPr>
          <a:xfrm>
            <a:off x="6157575" y="3604450"/>
            <a:ext cx="10638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FFFF"/>
                </a:solidFill>
                <a:latin typeface="Lato"/>
                <a:ea typeface="Lato"/>
                <a:cs typeface="Lato"/>
                <a:sym typeface="Lato"/>
              </a:rPr>
              <a:t>Company</a:t>
            </a:r>
            <a:endParaRPr b="1">
              <a:solidFill>
                <a:srgbClr val="FFFFFF"/>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Current Situation</a:t>
            </a:r>
            <a:endParaRPr/>
          </a:p>
        </p:txBody>
      </p:sp>
      <p:sp>
        <p:nvSpPr>
          <p:cNvPr id="176" name="Google Shape;176;p16"/>
          <p:cNvSpPr txBox="1">
            <a:spLocks noGrp="1"/>
          </p:cNvSpPr>
          <p:nvPr>
            <p:ph type="body" idx="1"/>
          </p:nvPr>
        </p:nvSpPr>
        <p:spPr>
          <a:xfrm>
            <a:off x="1297500" y="1567550"/>
            <a:ext cx="7038900" cy="31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People </a:t>
            </a:r>
            <a:r>
              <a:rPr lang="en" sz="1400">
                <a:solidFill>
                  <a:srgbClr val="FFFFFF"/>
                </a:solidFill>
              </a:rPr>
              <a:t>often misconstrue their disdain for school because they "hate learning".</a:t>
            </a:r>
            <a:endParaRPr sz="1400">
              <a:solidFill>
                <a:srgbClr val="FFFFFF"/>
              </a:solidFill>
            </a:endParaRPr>
          </a:p>
          <a:p>
            <a:pPr marL="0" lvl="0" indent="0" algn="l" rtl="0">
              <a:spcBef>
                <a:spcPts val="1600"/>
              </a:spcBef>
              <a:spcAft>
                <a:spcPts val="0"/>
              </a:spcAft>
              <a:buNone/>
            </a:pPr>
            <a:r>
              <a:rPr lang="en" sz="1400">
                <a:solidFill>
                  <a:srgbClr val="FFFFFF"/>
                </a:solidFill>
              </a:rPr>
              <a:t>Other issues include:</a:t>
            </a:r>
            <a:endParaRPr sz="1400">
              <a:solidFill>
                <a:srgbClr val="FFFFFF"/>
              </a:solidFill>
            </a:endParaRPr>
          </a:p>
          <a:p>
            <a:pPr marL="457200" lvl="0" indent="-317500" algn="l" rtl="0">
              <a:spcBef>
                <a:spcPts val="1600"/>
              </a:spcBef>
              <a:spcAft>
                <a:spcPts val="0"/>
              </a:spcAft>
              <a:buClr>
                <a:srgbClr val="FFFFFF"/>
              </a:buClr>
              <a:buSzPts val="1400"/>
              <a:buChar char="●"/>
            </a:pPr>
            <a:r>
              <a:rPr lang="en" sz="1400">
                <a:solidFill>
                  <a:srgbClr val="FFFFFF"/>
                </a:solidFill>
              </a:rPr>
              <a:t>It's frustrating</a:t>
            </a:r>
            <a:endParaRPr sz="1400">
              <a:solidFill>
                <a:srgbClr val="FFFFFF"/>
              </a:solidFill>
            </a:endParaRPr>
          </a:p>
          <a:p>
            <a:pPr marL="457200" lvl="0" indent="-317500" algn="l" rtl="0">
              <a:spcBef>
                <a:spcPts val="0"/>
              </a:spcBef>
              <a:spcAft>
                <a:spcPts val="0"/>
              </a:spcAft>
              <a:buClr>
                <a:srgbClr val="FFFFFF"/>
              </a:buClr>
              <a:buSzPts val="1400"/>
              <a:buChar char="●"/>
            </a:pPr>
            <a:r>
              <a:rPr lang="en" sz="1400">
                <a:solidFill>
                  <a:srgbClr val="FFFFFF"/>
                </a:solidFill>
              </a:rPr>
              <a:t>It's not FUN</a:t>
            </a:r>
            <a:endParaRPr sz="1400">
              <a:solidFill>
                <a:srgbClr val="FFFFFF"/>
              </a:solidFill>
            </a:endParaRPr>
          </a:p>
          <a:p>
            <a:pPr marL="457200" lvl="0" indent="-317500" algn="l" rtl="0">
              <a:spcBef>
                <a:spcPts val="0"/>
              </a:spcBef>
              <a:spcAft>
                <a:spcPts val="0"/>
              </a:spcAft>
              <a:buClr>
                <a:srgbClr val="FFFFFF"/>
              </a:buClr>
              <a:buSzPts val="1400"/>
              <a:buChar char="●"/>
            </a:pPr>
            <a:r>
              <a:rPr lang="en" sz="1400">
                <a:solidFill>
                  <a:srgbClr val="FFFFFF"/>
                </a:solidFill>
              </a:rPr>
              <a:t>They are forced</a:t>
            </a:r>
            <a:endParaRPr sz="1400">
              <a:solidFill>
                <a:srgbClr val="FFFFFF"/>
              </a:solidFill>
            </a:endParaRPr>
          </a:p>
          <a:p>
            <a:pPr marL="457200" lvl="0" indent="-317500" algn="l" rtl="0">
              <a:spcBef>
                <a:spcPts val="0"/>
              </a:spcBef>
              <a:spcAft>
                <a:spcPts val="0"/>
              </a:spcAft>
              <a:buClr>
                <a:srgbClr val="FFFFFF"/>
              </a:buClr>
              <a:buSzPts val="1400"/>
              <a:buChar char="●"/>
            </a:pPr>
            <a:r>
              <a:rPr lang="en" sz="1400">
                <a:solidFill>
                  <a:srgbClr val="FFFFFF"/>
                </a:solidFill>
              </a:rPr>
              <a:t>Environment is t0xic</a:t>
            </a:r>
            <a:endParaRPr sz="1400">
              <a:solidFill>
                <a:srgbClr val="FFFFFF"/>
              </a:solidFill>
            </a:endParaRPr>
          </a:p>
          <a:p>
            <a:pPr marL="457200" lvl="0" indent="-317500" algn="l" rtl="0">
              <a:spcBef>
                <a:spcPts val="0"/>
              </a:spcBef>
              <a:spcAft>
                <a:spcPts val="0"/>
              </a:spcAft>
              <a:buClr>
                <a:srgbClr val="FFFFFF"/>
              </a:buClr>
              <a:buSzPts val="1400"/>
              <a:buChar char="●"/>
            </a:pPr>
            <a:r>
              <a:rPr lang="en" sz="1400">
                <a:solidFill>
                  <a:srgbClr val="FFFFFF"/>
                </a:solidFill>
              </a:rPr>
              <a:t>Learn slower than peers</a:t>
            </a:r>
            <a:endParaRPr sz="1400">
              <a:solidFill>
                <a:srgbClr val="FFFFFF"/>
              </a:solidFill>
            </a:endParaRPr>
          </a:p>
          <a:p>
            <a:pPr marL="914400" lvl="1" indent="-317500" algn="l" rtl="0">
              <a:spcBef>
                <a:spcPts val="0"/>
              </a:spcBef>
              <a:spcAft>
                <a:spcPts val="0"/>
              </a:spcAft>
              <a:buClr>
                <a:srgbClr val="FFFFFF"/>
              </a:buClr>
              <a:buSzPts val="1400"/>
              <a:buChar char="○"/>
            </a:pPr>
            <a:r>
              <a:rPr lang="en" sz="1400">
                <a:solidFill>
                  <a:srgbClr val="FFFFFF"/>
                </a:solidFill>
              </a:rPr>
              <a:t>School pushes everyone along at the same rate</a:t>
            </a:r>
            <a:endParaRPr sz="1400">
              <a:solidFill>
                <a:srgbClr val="FFFFFF"/>
              </a:solidFill>
            </a:endParaRPr>
          </a:p>
          <a:p>
            <a:pPr marL="457200" lvl="0" indent="-317500" algn="l" rtl="0">
              <a:spcBef>
                <a:spcPts val="0"/>
              </a:spcBef>
              <a:spcAft>
                <a:spcPts val="0"/>
              </a:spcAft>
              <a:buClr>
                <a:srgbClr val="FFFFFF"/>
              </a:buClr>
              <a:buSzPts val="1400"/>
              <a:buChar char="●"/>
            </a:pPr>
            <a:r>
              <a:rPr lang="en" sz="1400">
                <a:solidFill>
                  <a:srgbClr val="FFFFFF"/>
                </a:solidFill>
              </a:rPr>
              <a:t>They don't feel safe</a:t>
            </a:r>
            <a:endParaRPr sz="1400">
              <a:solidFill>
                <a:srgbClr val="FFFFFF"/>
              </a:solidFill>
            </a:endParaRPr>
          </a:p>
          <a:p>
            <a:pPr marL="457200" lvl="0" indent="-317500" algn="l" rtl="0">
              <a:spcBef>
                <a:spcPts val="0"/>
              </a:spcBef>
              <a:spcAft>
                <a:spcPts val="0"/>
              </a:spcAft>
              <a:buClr>
                <a:srgbClr val="FFFFFF"/>
              </a:buClr>
              <a:buSzPts val="1400"/>
              <a:buChar char="●"/>
            </a:pPr>
            <a:r>
              <a:rPr lang="en" sz="1400">
                <a:solidFill>
                  <a:srgbClr val="FFFFFF"/>
                </a:solidFill>
              </a:rPr>
              <a:t>Hard to make friends / interact with community</a:t>
            </a:r>
            <a:endParaRPr sz="1400">
              <a:solidFill>
                <a:srgbClr val="FFFFFF"/>
              </a:solidFill>
            </a:endParaRPr>
          </a:p>
        </p:txBody>
      </p:sp>
      <p:pic>
        <p:nvPicPr>
          <p:cNvPr id="177" name="Google Shape;177;p16"/>
          <p:cNvPicPr preferRelativeResize="0"/>
          <p:nvPr/>
        </p:nvPicPr>
        <p:blipFill>
          <a:blip r:embed="rId3">
            <a:alphaModFix/>
          </a:blip>
          <a:stretch>
            <a:fillRect/>
          </a:stretch>
        </p:blipFill>
        <p:spPr>
          <a:xfrm>
            <a:off x="6492963" y="2079225"/>
            <a:ext cx="2143125" cy="2143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1321550" y="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Identified Problems / Solutions - Part 1</a:t>
            </a:r>
            <a:endParaRPr/>
          </a:p>
        </p:txBody>
      </p:sp>
      <p:sp>
        <p:nvSpPr>
          <p:cNvPr id="183" name="Google Shape;183;p17"/>
          <p:cNvSpPr txBox="1">
            <a:spLocks noGrp="1"/>
          </p:cNvSpPr>
          <p:nvPr>
            <p:ph type="body" idx="1"/>
          </p:nvPr>
        </p:nvSpPr>
        <p:spPr>
          <a:xfrm>
            <a:off x="1417650" y="437900"/>
            <a:ext cx="7038900" cy="2911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Prob: Difficult to communicate with other students outside of school</a:t>
            </a:r>
            <a:endParaRPr/>
          </a:p>
          <a:p>
            <a:pPr marL="914400" lvl="1" indent="-298450" algn="l" rtl="0">
              <a:spcBef>
                <a:spcPts val="0"/>
              </a:spcBef>
              <a:spcAft>
                <a:spcPts val="0"/>
              </a:spcAft>
              <a:buSzPts val="1100"/>
              <a:buChar char="○"/>
            </a:pPr>
            <a:r>
              <a:rPr lang="en"/>
              <a:t>Sol: Text platform based on SnapChat model</a:t>
            </a:r>
            <a:endParaRPr/>
          </a:p>
          <a:p>
            <a:pPr marL="914400" lvl="1" indent="-298450" algn="l" rtl="0">
              <a:spcBef>
                <a:spcPts val="0"/>
              </a:spcBef>
              <a:spcAft>
                <a:spcPts val="0"/>
              </a:spcAft>
              <a:buSzPts val="1100"/>
              <a:buChar char="○"/>
            </a:pPr>
            <a:r>
              <a:rPr lang="en"/>
              <a:t>Diff: </a:t>
            </a:r>
            <a:endParaRPr/>
          </a:p>
          <a:p>
            <a:pPr marL="1371600" lvl="2" indent="-298450" algn="l" rtl="0">
              <a:spcBef>
                <a:spcPts val="0"/>
              </a:spcBef>
              <a:spcAft>
                <a:spcPts val="0"/>
              </a:spcAft>
              <a:buSzPts val="1100"/>
              <a:buChar char="■"/>
            </a:pPr>
            <a:r>
              <a:rPr lang="en"/>
              <a:t>Emojis are community created</a:t>
            </a:r>
            <a:endParaRPr/>
          </a:p>
          <a:p>
            <a:pPr marL="1371600" lvl="2" indent="-298450" algn="l" rtl="0">
              <a:spcBef>
                <a:spcPts val="0"/>
              </a:spcBef>
              <a:spcAft>
                <a:spcPts val="0"/>
              </a:spcAft>
              <a:buSzPts val="1100"/>
              <a:buChar char="■"/>
            </a:pPr>
            <a:r>
              <a:rPr lang="en"/>
              <a:t>Communities built around tutoring, ASB, and club organizing </a:t>
            </a:r>
            <a:endParaRPr/>
          </a:p>
          <a:p>
            <a:pPr marL="457200" lvl="0" indent="-311150" algn="l" rtl="0">
              <a:spcBef>
                <a:spcPts val="0"/>
              </a:spcBef>
              <a:spcAft>
                <a:spcPts val="0"/>
              </a:spcAft>
              <a:buSzPts val="1300"/>
              <a:buChar char="●"/>
            </a:pPr>
            <a:r>
              <a:rPr lang="en"/>
              <a:t>Google </a:t>
            </a:r>
            <a:endParaRPr/>
          </a:p>
          <a:p>
            <a:pPr marL="914400" lvl="1" indent="-298450" algn="l" rtl="0">
              <a:spcBef>
                <a:spcPts val="0"/>
              </a:spcBef>
              <a:spcAft>
                <a:spcPts val="0"/>
              </a:spcAft>
              <a:buSzPts val="1100"/>
              <a:buChar char="○"/>
            </a:pPr>
            <a:r>
              <a:rPr lang="en"/>
              <a:t>Conglomeration based</a:t>
            </a:r>
            <a:endParaRPr/>
          </a:p>
          <a:p>
            <a:pPr marL="457200" lvl="0" indent="-311150" algn="l" rtl="0">
              <a:spcBef>
                <a:spcPts val="0"/>
              </a:spcBef>
              <a:spcAft>
                <a:spcPts val="0"/>
              </a:spcAft>
              <a:buSzPts val="1300"/>
              <a:buChar char="●"/>
            </a:pPr>
            <a:r>
              <a:rPr lang="en"/>
              <a:t>Nest Idea</a:t>
            </a:r>
            <a:endParaRPr/>
          </a:p>
          <a:p>
            <a:pPr marL="457200" lvl="0" indent="-311150" algn="l" rtl="0">
              <a:spcBef>
                <a:spcPts val="0"/>
              </a:spcBef>
              <a:spcAft>
                <a:spcPts val="0"/>
              </a:spcAft>
              <a:buSzPts val="1300"/>
              <a:buChar char="●"/>
            </a:pPr>
            <a:r>
              <a:rPr lang="en"/>
              <a:t>Students tutor each other</a:t>
            </a:r>
            <a:endParaRPr/>
          </a:p>
          <a:p>
            <a:pPr marL="457200" lvl="0" indent="-311150" algn="l" rtl="0">
              <a:spcBef>
                <a:spcPts val="0"/>
              </a:spcBef>
              <a:spcAft>
                <a:spcPts val="0"/>
              </a:spcAft>
              <a:buSzPts val="1300"/>
              <a:buChar char="●"/>
            </a:pPr>
            <a:r>
              <a:rPr lang="en"/>
              <a:t>Social network</a:t>
            </a:r>
            <a:endParaRPr/>
          </a:p>
          <a:p>
            <a:pPr marL="914400" lvl="1" indent="-298450" algn="l" rtl="0">
              <a:spcBef>
                <a:spcPts val="0"/>
              </a:spcBef>
              <a:spcAft>
                <a:spcPts val="0"/>
              </a:spcAft>
              <a:buSzPts val="1100"/>
              <a:buChar char="○"/>
            </a:pPr>
            <a:r>
              <a:rPr lang="en"/>
              <a:t>Little bitcoin</a:t>
            </a:r>
            <a:endParaRPr/>
          </a:p>
          <a:p>
            <a:pPr marL="457200" lvl="0" indent="-311150" algn="l" rtl="0">
              <a:spcBef>
                <a:spcPts val="0"/>
              </a:spcBef>
              <a:spcAft>
                <a:spcPts val="0"/>
              </a:spcAft>
              <a:buSzPts val="1300"/>
              <a:buChar char="●"/>
            </a:pPr>
            <a:r>
              <a:rPr lang="en"/>
              <a:t>Erik Boesen</a:t>
            </a:r>
            <a:endParaRPr/>
          </a:p>
          <a:p>
            <a:pPr marL="914400" lvl="1" indent="-298450" algn="l" rtl="0">
              <a:spcBef>
                <a:spcPts val="0"/>
              </a:spcBef>
              <a:spcAft>
                <a:spcPts val="0"/>
              </a:spcAft>
              <a:buSzPts val="1100"/>
              <a:buChar char="○"/>
            </a:pPr>
            <a:r>
              <a:rPr lang="en"/>
              <a:t>Made yale food app and super elitest </a:t>
            </a:r>
            <a:endParaRPr/>
          </a:p>
          <a:p>
            <a:pPr marL="914400" lvl="1" indent="-298450" algn="l" rtl="0">
              <a:spcBef>
                <a:spcPts val="0"/>
              </a:spcBef>
              <a:spcAft>
                <a:spcPts val="0"/>
              </a:spcAft>
              <a:buSzPts val="1100"/>
              <a:buChar char="○"/>
            </a:pPr>
            <a:r>
              <a:rPr lang="en"/>
              <a:t>Trafficing → google maps but for food areas and bathrooms</a:t>
            </a:r>
            <a:endParaRPr/>
          </a:p>
          <a:p>
            <a:pPr marL="914400" lvl="1" indent="-298450" algn="l" rtl="0">
              <a:spcBef>
                <a:spcPts val="0"/>
              </a:spcBef>
              <a:spcAft>
                <a:spcPts val="0"/>
              </a:spcAft>
              <a:buSzPts val="1100"/>
              <a:buChar char="○"/>
            </a:pPr>
            <a:r>
              <a:rPr lang="en"/>
              <a:t>Liibrary &amp;&amp; trafficing for the entire school</a:t>
            </a:r>
            <a:endParaRPr/>
          </a:p>
          <a:p>
            <a:pPr marL="457200" lvl="0" indent="-311150" algn="l" rtl="0">
              <a:spcBef>
                <a:spcPts val="0"/>
              </a:spcBef>
              <a:spcAft>
                <a:spcPts val="0"/>
              </a:spcAft>
              <a:buSzPts val="1300"/>
              <a:buChar char="●"/>
            </a:pPr>
            <a:r>
              <a:rPr lang="en"/>
              <a:t>Senior prank template</a:t>
            </a:r>
            <a:endParaRPr/>
          </a:p>
          <a:p>
            <a:pPr marL="914400" lvl="1" indent="-298450" algn="l" rtl="0">
              <a:spcBef>
                <a:spcPts val="0"/>
              </a:spcBef>
              <a:spcAft>
                <a:spcPts val="0"/>
              </a:spcAft>
              <a:buSzPts val="1100"/>
              <a:buChar char="○"/>
            </a:pPr>
            <a:r>
              <a:rPr lang="en"/>
              <a:t>Crush list</a:t>
            </a:r>
            <a:endParaRPr/>
          </a:p>
          <a:p>
            <a:pPr marL="914400" lvl="1" indent="-298450" algn="l" rtl="0">
              <a:spcBef>
                <a:spcPts val="0"/>
              </a:spcBef>
              <a:spcAft>
                <a:spcPts val="0"/>
              </a:spcAft>
              <a:buSzPts val="1100"/>
              <a:buChar char="○"/>
            </a:pPr>
            <a:r>
              <a:rPr lang="en"/>
              <a:t>School based apps</a:t>
            </a:r>
            <a:endParaRPr/>
          </a:p>
          <a:p>
            <a:pPr marL="914400" lvl="1" indent="-298450" algn="l" rtl="0">
              <a:spcBef>
                <a:spcPts val="0"/>
              </a:spcBef>
              <a:spcAft>
                <a:spcPts val="0"/>
              </a:spcAft>
              <a:buSzPts val="1100"/>
              <a:buChar char="○"/>
            </a:pPr>
            <a:r>
              <a:rPr lang="en"/>
              <a:t>Senior assassin</a:t>
            </a:r>
            <a:endParaRPr/>
          </a:p>
          <a:p>
            <a:pPr marL="457200" lvl="0" indent="-311150" algn="l" rtl="0">
              <a:spcBef>
                <a:spcPts val="0"/>
              </a:spcBef>
              <a:spcAft>
                <a:spcPts val="0"/>
              </a:spcAft>
              <a:buSzPts val="1300"/>
              <a:buChar char="●"/>
            </a:pPr>
            <a:r>
              <a:rPr lang="en"/>
              <a:t>Cheat sheet temlate</a:t>
            </a:r>
            <a:endParaRPr/>
          </a:p>
          <a:p>
            <a:pPr marL="914400" lvl="1" indent="-298450" algn="l" rtl="0">
              <a:spcBef>
                <a:spcPts val="0"/>
              </a:spcBef>
              <a:spcAft>
                <a:spcPts val="0"/>
              </a:spcAft>
              <a:buSzPts val="1100"/>
              <a:buChar char="○"/>
            </a:pPr>
            <a:r>
              <a:rPr lang="en"/>
              <a:t>Mr west class → quizlet	advertising parnters give free gift cards → sweat coin model</a:t>
            </a:r>
            <a:endParaRPr/>
          </a:p>
          <a:p>
            <a:pPr marL="457200" lvl="0" indent="-311150" algn="l" rtl="0">
              <a:spcBef>
                <a:spcPts val="0"/>
              </a:spcBef>
              <a:spcAft>
                <a:spcPts val="0"/>
              </a:spcAft>
              <a:buSzPts val="1300"/>
              <a:buChar char="●"/>
            </a:pPr>
            <a:r>
              <a:rPr lang="en"/>
              <a:t>Unique website for each</a:t>
            </a:r>
            <a:endParaRPr/>
          </a:p>
        </p:txBody>
      </p:sp>
      <p:sp>
        <p:nvSpPr>
          <p:cNvPr id="184" name="Google Shape;184;p17"/>
          <p:cNvSpPr txBox="1"/>
          <p:nvPr/>
        </p:nvSpPr>
        <p:spPr>
          <a:xfrm>
            <a:off x="5967425" y="683425"/>
            <a:ext cx="25596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6B26B"/>
                </a:solidFill>
                <a:latin typeface="Lato"/>
                <a:ea typeface="Lato"/>
                <a:cs typeface="Lato"/>
                <a:sym typeface="Lato"/>
              </a:rPr>
              <a:t>NO PARTICULAR ORDER</a:t>
            </a:r>
            <a:endParaRPr b="1">
              <a:solidFill>
                <a:srgbClr val="F6B26B"/>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solution continued</a:t>
            </a:r>
            <a:endParaRPr/>
          </a:p>
        </p:txBody>
      </p:sp>
      <p:sp>
        <p:nvSpPr>
          <p:cNvPr id="190" name="Google Shape;190;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1600"/>
              </a:spcAft>
              <a:buNone/>
            </a:pPr>
            <a:r>
              <a:rPr lang="en"/>
              <a:t>Synergy pusd → ml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Google Philosophy </a:t>
            </a:r>
            <a:endParaRPr/>
          </a:p>
        </p:txBody>
      </p:sp>
      <p:sp>
        <p:nvSpPr>
          <p:cNvPr id="196" name="Google Shape;196;p19"/>
          <p:cNvSpPr txBox="1"/>
          <p:nvPr/>
        </p:nvSpPr>
        <p:spPr>
          <a:xfrm>
            <a:off x="653500" y="2145600"/>
            <a:ext cx="3530400" cy="21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FFFF"/>
                </a:solidFill>
              </a:rPr>
              <a:t>Community Builder</a:t>
            </a:r>
            <a:r>
              <a:rPr lang="en"/>
              <a:t>Builder</a:t>
            </a:r>
            <a:endParaRPr>
              <a:solidFill>
                <a:srgbClr val="FFFFFF"/>
              </a:solidFill>
            </a:endParaRPr>
          </a:p>
        </p:txBody>
      </p:sp>
      <p:sp>
        <p:nvSpPr>
          <p:cNvPr id="197" name="Google Shape;197;p19"/>
          <p:cNvSpPr txBox="1"/>
          <p:nvPr/>
        </p:nvSpPr>
        <p:spPr>
          <a:xfrm>
            <a:off x="4572000" y="1945153"/>
            <a:ext cx="3764400" cy="266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FFFF"/>
                </a:solidFill>
              </a:rPr>
              <a:t>Platform Builder</a:t>
            </a:r>
            <a:endParaRPr>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b="1"/>
              <a:t>Demo</a:t>
            </a:r>
            <a:endParaRPr sz="4800" b="1"/>
          </a:p>
        </p:txBody>
      </p:sp>
      <p:sp>
        <p:nvSpPr>
          <p:cNvPr id="203" name="Google Shape;203;p20"/>
          <p:cNvSpPr txBox="1"/>
          <p:nvPr/>
        </p:nvSpPr>
        <p:spPr>
          <a:xfrm>
            <a:off x="1297500" y="2312125"/>
            <a:ext cx="73383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latin typeface="Lato"/>
                <a:ea typeface="Lato"/>
                <a:cs typeface="Lato"/>
                <a:sym typeface="Lato"/>
              </a:rPr>
              <a:t>(INCLUDE ONCE A MINIMUM VIABLE PRODUCT EXISTS)</a:t>
            </a:r>
            <a:endParaRPr sz="3600">
              <a:solidFill>
                <a:srgbClr val="FFFFFF"/>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Benefits</a:t>
            </a:r>
            <a:endParaRPr/>
          </a:p>
        </p:txBody>
      </p:sp>
      <p:sp>
        <p:nvSpPr>
          <p:cNvPr id="209" name="Google Shape;209;p21"/>
          <p:cNvSpPr txBox="1">
            <a:spLocks noGrp="1"/>
          </p:cNvSpPr>
          <p:nvPr>
            <p:ph type="body" idx="1"/>
          </p:nvPr>
        </p:nvSpPr>
        <p:spPr>
          <a:xfrm>
            <a:off x="266050" y="1540075"/>
            <a:ext cx="3406500" cy="349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What developers gain:</a:t>
            </a:r>
            <a:endParaRPr sz="1800"/>
          </a:p>
          <a:p>
            <a:pPr marL="457200" lvl="0" indent="-342900" algn="l" rtl="0">
              <a:spcBef>
                <a:spcPts val="1600"/>
              </a:spcBef>
              <a:spcAft>
                <a:spcPts val="0"/>
              </a:spcAft>
              <a:buSzPts val="1800"/>
              <a:buChar char="●"/>
            </a:pPr>
            <a:r>
              <a:rPr lang="en" sz="1800"/>
              <a:t>Developing an educational platform is a fantastic college / resume builder</a:t>
            </a:r>
            <a:endParaRPr sz="1800"/>
          </a:p>
          <a:p>
            <a:pPr marL="457200" lvl="0" indent="-342900" algn="l" rtl="0">
              <a:spcBef>
                <a:spcPts val="0"/>
              </a:spcBef>
              <a:spcAft>
                <a:spcPts val="0"/>
              </a:spcAft>
              <a:buSzPts val="1800"/>
              <a:buChar char="●"/>
            </a:pPr>
            <a:r>
              <a:rPr lang="en" sz="1800"/>
              <a:t>Platform is built in Electron so easily portable from website to app</a:t>
            </a:r>
            <a:endParaRPr sz="1800"/>
          </a:p>
          <a:p>
            <a:pPr marL="457200" lvl="0" indent="-342900" algn="l" rtl="0">
              <a:spcBef>
                <a:spcPts val="0"/>
              </a:spcBef>
              <a:spcAft>
                <a:spcPts val="0"/>
              </a:spcAft>
              <a:buSzPts val="1800"/>
              <a:buChar char="●"/>
            </a:pPr>
            <a:r>
              <a:rPr lang="en" sz="1800"/>
              <a:t>Quick iterations through Agile DevOps</a:t>
            </a:r>
            <a:endParaRPr sz="1800"/>
          </a:p>
          <a:p>
            <a:pPr marL="457200" lvl="0" indent="-342900" algn="l" rtl="0">
              <a:spcBef>
                <a:spcPts val="0"/>
              </a:spcBef>
              <a:spcAft>
                <a:spcPts val="0"/>
              </a:spcAft>
              <a:buSzPts val="1800"/>
              <a:buChar char="●"/>
            </a:pPr>
            <a:r>
              <a:rPr lang="en" sz="1800"/>
              <a:t>Possibly $$$???</a:t>
            </a:r>
            <a:endParaRPr sz="1800"/>
          </a:p>
        </p:txBody>
      </p:sp>
      <p:sp>
        <p:nvSpPr>
          <p:cNvPr id="210" name="Google Shape;210;p21"/>
          <p:cNvSpPr txBox="1"/>
          <p:nvPr/>
        </p:nvSpPr>
        <p:spPr>
          <a:xfrm>
            <a:off x="4572000" y="1540075"/>
            <a:ext cx="4409100" cy="28074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800">
                <a:solidFill>
                  <a:srgbClr val="FFFFFF"/>
                </a:solidFill>
                <a:latin typeface="Lato"/>
                <a:ea typeface="Lato"/>
                <a:cs typeface="Lato"/>
                <a:sym typeface="Lato"/>
              </a:rPr>
              <a:t>What users gain:</a:t>
            </a:r>
            <a:endParaRPr sz="1800">
              <a:solidFill>
                <a:srgbClr val="FFFFFF"/>
              </a:solidFill>
              <a:latin typeface="Lato"/>
              <a:ea typeface="Lato"/>
              <a:cs typeface="Lato"/>
              <a:sym typeface="Lato"/>
            </a:endParaRPr>
          </a:p>
          <a:p>
            <a:pPr marL="457200" lvl="0" indent="-342900" algn="l" rtl="0">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Easily interact with friends</a:t>
            </a:r>
            <a:endParaRPr sz="1800">
              <a:solidFill>
                <a:srgbClr val="FFFFFF"/>
              </a:solidFill>
              <a:latin typeface="Lato"/>
              <a:ea typeface="Lato"/>
              <a:cs typeface="Lato"/>
              <a:sym typeface="Lato"/>
            </a:endParaRPr>
          </a:p>
          <a:p>
            <a:pPr marL="457200" lvl="0" indent="-342900" algn="l" rtl="0">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Effectively find help in school</a:t>
            </a:r>
            <a:endParaRPr sz="1800">
              <a:solidFill>
                <a:srgbClr val="FFFFFF"/>
              </a:solidFill>
              <a:latin typeface="Lato"/>
              <a:ea typeface="Lato"/>
              <a:cs typeface="Lato"/>
              <a:sym typeface="Lato"/>
            </a:endParaRPr>
          </a:p>
          <a:p>
            <a:pPr marL="457200" lvl="0" indent="-342900" algn="l" rtl="0">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Streamline club and volunteering activities</a:t>
            </a:r>
            <a:endParaRPr sz="1800">
              <a:solidFill>
                <a:srgbClr val="FFFFFF"/>
              </a:solidFill>
              <a:latin typeface="Lato"/>
              <a:ea typeface="Lato"/>
              <a:cs typeface="Lato"/>
              <a:sym typeface="Lato"/>
            </a:endParaRPr>
          </a:p>
          <a:p>
            <a:pPr marL="457200" lvl="0" indent="-342900" algn="l" rtl="0">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Allow socially inept to access school culture</a:t>
            </a:r>
            <a:endParaRPr sz="1800">
              <a:solidFill>
                <a:srgbClr val="FFFFFF"/>
              </a:solidFill>
              <a:latin typeface="Lato"/>
              <a:ea typeface="Lato"/>
              <a:cs typeface="Lato"/>
              <a:sym typeface="Lato"/>
            </a:endParaRPr>
          </a:p>
          <a:p>
            <a:pPr marL="457200" lvl="0" indent="-342900" algn="l" rtl="0">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Make school fun and interactive</a:t>
            </a:r>
            <a:endParaRPr sz="1800">
              <a:solidFill>
                <a:srgbClr val="FFFFFF"/>
              </a:solidFill>
              <a:latin typeface="Lato"/>
              <a:ea typeface="Lato"/>
              <a:cs typeface="Lato"/>
              <a:sym typeface="Lato"/>
            </a:endParaRPr>
          </a:p>
          <a:p>
            <a:pPr marL="457200" lvl="0" indent="-342900" algn="l" rtl="0">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GIVE POWER OF EDUCATION DECISIONS TO THE STUDENT BODY INSTEAD OF FACILITY</a:t>
            </a:r>
            <a:endParaRPr sz="1800">
              <a:solidFill>
                <a:srgbClr val="FFFFFF"/>
              </a:solidFill>
              <a:latin typeface="Lato"/>
              <a:ea typeface="Lato"/>
              <a:cs typeface="Lato"/>
              <a:sym typeface="Lato"/>
            </a:endParaRPr>
          </a:p>
        </p:txBody>
      </p:sp>
      <p:pic>
        <p:nvPicPr>
          <p:cNvPr id="211" name="Google Shape;211;p21"/>
          <p:cNvPicPr preferRelativeResize="0"/>
          <p:nvPr/>
        </p:nvPicPr>
        <p:blipFill>
          <a:blip r:embed="rId3">
            <a:alphaModFix/>
          </a:blip>
          <a:stretch>
            <a:fillRect/>
          </a:stretch>
        </p:blipFill>
        <p:spPr>
          <a:xfrm>
            <a:off x="6681350" y="53150"/>
            <a:ext cx="2010950" cy="1858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2"/>
          <p:cNvSpPr/>
          <p:nvPr/>
        </p:nvSpPr>
        <p:spPr>
          <a:xfrm>
            <a:off x="4420050" y="4344950"/>
            <a:ext cx="1782300" cy="6369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2"/>
          <p:cNvSpPr/>
          <p:nvPr/>
        </p:nvSpPr>
        <p:spPr>
          <a:xfrm>
            <a:off x="6744150" y="4281450"/>
            <a:ext cx="1117500" cy="2598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2"/>
          <p:cNvSpPr/>
          <p:nvPr/>
        </p:nvSpPr>
        <p:spPr>
          <a:xfrm>
            <a:off x="5651950" y="3671850"/>
            <a:ext cx="1473300" cy="469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2"/>
          <p:cNvSpPr/>
          <p:nvPr/>
        </p:nvSpPr>
        <p:spPr>
          <a:xfrm>
            <a:off x="2747950" y="3349550"/>
            <a:ext cx="2391600" cy="9141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2"/>
          <p:cNvSpPr/>
          <p:nvPr/>
        </p:nvSpPr>
        <p:spPr>
          <a:xfrm>
            <a:off x="937825" y="4391450"/>
            <a:ext cx="2527500" cy="691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2"/>
          <p:cNvSpPr/>
          <p:nvPr/>
        </p:nvSpPr>
        <p:spPr>
          <a:xfrm>
            <a:off x="252825" y="3785300"/>
            <a:ext cx="1521300" cy="259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2"/>
          <p:cNvSpPr/>
          <p:nvPr/>
        </p:nvSpPr>
        <p:spPr>
          <a:xfrm>
            <a:off x="7571500" y="1958650"/>
            <a:ext cx="1117500" cy="4281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223" name="Google Shape;223;p22"/>
          <p:cNvSpPr/>
          <p:nvPr/>
        </p:nvSpPr>
        <p:spPr>
          <a:xfrm>
            <a:off x="6417825" y="1526025"/>
            <a:ext cx="1237800" cy="259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2"/>
          <p:cNvSpPr/>
          <p:nvPr/>
        </p:nvSpPr>
        <p:spPr>
          <a:xfrm>
            <a:off x="4807475" y="2006725"/>
            <a:ext cx="2211300" cy="508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2"/>
          <p:cNvSpPr/>
          <p:nvPr/>
        </p:nvSpPr>
        <p:spPr>
          <a:xfrm>
            <a:off x="2980800" y="1345750"/>
            <a:ext cx="2287800" cy="508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2"/>
          <p:cNvSpPr/>
          <p:nvPr/>
        </p:nvSpPr>
        <p:spPr>
          <a:xfrm>
            <a:off x="1382475" y="2355225"/>
            <a:ext cx="2307300" cy="259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2"/>
          <p:cNvSpPr/>
          <p:nvPr/>
        </p:nvSpPr>
        <p:spPr>
          <a:xfrm>
            <a:off x="204950" y="1702350"/>
            <a:ext cx="2391600" cy="3168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FFFF"/>
              </a:highlight>
            </a:endParaRPr>
          </a:p>
        </p:txBody>
      </p:sp>
      <p:sp>
        <p:nvSpPr>
          <p:cNvPr id="228" name="Google Shape;228;p22"/>
          <p:cNvSpPr txBox="1"/>
          <p:nvPr/>
        </p:nvSpPr>
        <p:spPr>
          <a:xfrm>
            <a:off x="137000" y="1646700"/>
            <a:ext cx="25275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User accounts &amp; email classes</a:t>
            </a:r>
            <a:endParaRPr>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p:txBody>
      </p:sp>
      <p:sp>
        <p:nvSpPr>
          <p:cNvPr id="229" name="Google Shape;229;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Milestones</a:t>
            </a:r>
            <a:endParaRPr/>
          </a:p>
        </p:txBody>
      </p:sp>
      <p:sp>
        <p:nvSpPr>
          <p:cNvPr id="230" name="Google Shape;230;p22"/>
          <p:cNvSpPr txBox="1">
            <a:spLocks noGrp="1"/>
          </p:cNvSpPr>
          <p:nvPr>
            <p:ph type="body" idx="1"/>
          </p:nvPr>
        </p:nvSpPr>
        <p:spPr>
          <a:xfrm>
            <a:off x="59700" y="3180175"/>
            <a:ext cx="1237800" cy="31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June 20, 2018</a:t>
            </a:r>
            <a:endParaRPr/>
          </a:p>
        </p:txBody>
      </p:sp>
      <p:cxnSp>
        <p:nvCxnSpPr>
          <p:cNvPr id="231" name="Google Shape;231;p22"/>
          <p:cNvCxnSpPr/>
          <p:nvPr/>
        </p:nvCxnSpPr>
        <p:spPr>
          <a:xfrm>
            <a:off x="793625" y="3016200"/>
            <a:ext cx="7583100" cy="0"/>
          </a:xfrm>
          <a:prstGeom prst="straightConnector1">
            <a:avLst/>
          </a:prstGeom>
          <a:noFill/>
          <a:ln w="76200" cap="flat" cmpd="sng">
            <a:solidFill>
              <a:schemeClr val="dk2"/>
            </a:solidFill>
            <a:prstDash val="solid"/>
            <a:round/>
            <a:headEnd type="none" w="med" len="med"/>
            <a:tailEnd type="triangle" w="med" len="med"/>
          </a:ln>
        </p:spPr>
      </p:cxnSp>
      <p:sp>
        <p:nvSpPr>
          <p:cNvPr id="232" name="Google Shape;232;p22"/>
          <p:cNvSpPr txBox="1">
            <a:spLocks noGrp="1"/>
          </p:cNvSpPr>
          <p:nvPr>
            <p:ph type="body" idx="1"/>
          </p:nvPr>
        </p:nvSpPr>
        <p:spPr>
          <a:xfrm>
            <a:off x="7530775" y="3272475"/>
            <a:ext cx="1237800" cy="31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Dec 1, 2018</a:t>
            </a:r>
            <a:endParaRPr/>
          </a:p>
        </p:txBody>
      </p:sp>
      <p:sp>
        <p:nvSpPr>
          <p:cNvPr id="233" name="Google Shape;233;p22"/>
          <p:cNvSpPr txBox="1"/>
          <p:nvPr/>
        </p:nvSpPr>
        <p:spPr>
          <a:xfrm>
            <a:off x="7530775" y="1854575"/>
            <a:ext cx="1437000" cy="31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School safety component</a:t>
            </a:r>
            <a:endParaRPr>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p:txBody>
      </p:sp>
      <p:sp>
        <p:nvSpPr>
          <p:cNvPr id="234" name="Google Shape;234;p22"/>
          <p:cNvSpPr txBox="1"/>
          <p:nvPr/>
        </p:nvSpPr>
        <p:spPr>
          <a:xfrm>
            <a:off x="204950" y="3727500"/>
            <a:ext cx="17823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Instant messenger</a:t>
            </a:r>
            <a:endParaRPr>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p:txBody>
      </p:sp>
      <p:sp>
        <p:nvSpPr>
          <p:cNvPr id="235" name="Google Shape;235;p22"/>
          <p:cNvSpPr txBox="1"/>
          <p:nvPr/>
        </p:nvSpPr>
        <p:spPr>
          <a:xfrm>
            <a:off x="1382475" y="2303613"/>
            <a:ext cx="25275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Personalized school website</a:t>
            </a:r>
            <a:endParaRPr>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p:txBody>
      </p:sp>
      <p:sp>
        <p:nvSpPr>
          <p:cNvPr id="236" name="Google Shape;236;p22"/>
          <p:cNvSpPr txBox="1"/>
          <p:nvPr/>
        </p:nvSpPr>
        <p:spPr>
          <a:xfrm>
            <a:off x="936100" y="4321050"/>
            <a:ext cx="25275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Cheatsheet templater / forum</a:t>
            </a:r>
            <a:endParaRPr>
              <a:latin typeface="Lato"/>
              <a:ea typeface="Lato"/>
              <a:cs typeface="Lato"/>
              <a:sym typeface="Lato"/>
            </a:endParaRPr>
          </a:p>
          <a:p>
            <a:pPr marL="0" lvl="0" indent="0" algn="l" rtl="0">
              <a:spcBef>
                <a:spcPts val="0"/>
              </a:spcBef>
              <a:spcAft>
                <a:spcPts val="0"/>
              </a:spcAft>
              <a:buNone/>
            </a:pPr>
            <a:r>
              <a:rPr lang="en">
                <a:latin typeface="Lato"/>
                <a:ea typeface="Lato"/>
                <a:cs typeface="Lato"/>
                <a:sym typeface="Lato"/>
              </a:rPr>
              <a:t>Ability to share music playlists and memes</a:t>
            </a:r>
            <a:endParaRPr>
              <a:latin typeface="Lato"/>
              <a:ea typeface="Lato"/>
              <a:cs typeface="Lato"/>
              <a:sym typeface="Lato"/>
            </a:endParaRPr>
          </a:p>
        </p:txBody>
      </p:sp>
      <p:sp>
        <p:nvSpPr>
          <p:cNvPr id="237" name="Google Shape;237;p22"/>
          <p:cNvSpPr txBox="1"/>
          <p:nvPr/>
        </p:nvSpPr>
        <p:spPr>
          <a:xfrm>
            <a:off x="2662863" y="3271997"/>
            <a:ext cx="2527500" cy="5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Add file sharing and Google API capability to messenger</a:t>
            </a:r>
            <a:endParaRPr>
              <a:latin typeface="Lato"/>
              <a:ea typeface="Lato"/>
              <a:cs typeface="Lato"/>
              <a:sym typeface="Lato"/>
            </a:endParaRPr>
          </a:p>
          <a:p>
            <a:pPr marL="0" lvl="0" indent="0" algn="l" rtl="0">
              <a:spcBef>
                <a:spcPts val="0"/>
              </a:spcBef>
              <a:spcAft>
                <a:spcPts val="0"/>
              </a:spcAft>
              <a:buNone/>
            </a:pPr>
            <a:r>
              <a:rPr lang="en">
                <a:latin typeface="Lato"/>
                <a:ea typeface="Lato"/>
                <a:cs typeface="Lato"/>
                <a:sym typeface="Lato"/>
              </a:rPr>
              <a:t>Add personal emoji's for each school</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p:txBody>
      </p:sp>
      <p:sp>
        <p:nvSpPr>
          <p:cNvPr id="238" name="Google Shape;238;p22"/>
          <p:cNvSpPr txBox="1"/>
          <p:nvPr/>
        </p:nvSpPr>
        <p:spPr>
          <a:xfrm>
            <a:off x="2969325" y="1307875"/>
            <a:ext cx="25275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Tutoring, club council, club organizing splash page</a:t>
            </a:r>
            <a:endParaRPr>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p:txBody>
      </p:sp>
      <p:sp>
        <p:nvSpPr>
          <p:cNvPr id="239" name="Google Shape;239;p22"/>
          <p:cNvSpPr txBox="1"/>
          <p:nvPr/>
        </p:nvSpPr>
        <p:spPr>
          <a:xfrm>
            <a:off x="4371500" y="4234125"/>
            <a:ext cx="2527500" cy="8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Community vote on moderators - emulate Stackoverflow</a:t>
            </a:r>
            <a:endParaRPr>
              <a:latin typeface="Lato"/>
              <a:ea typeface="Lato"/>
              <a:cs typeface="Lato"/>
              <a:sym typeface="Lato"/>
            </a:endParaRPr>
          </a:p>
        </p:txBody>
      </p:sp>
      <p:sp>
        <p:nvSpPr>
          <p:cNvPr id="240" name="Google Shape;240;p22"/>
          <p:cNvSpPr txBox="1"/>
          <p:nvPr/>
        </p:nvSpPr>
        <p:spPr>
          <a:xfrm>
            <a:off x="4807475" y="1973200"/>
            <a:ext cx="2527500" cy="6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Fun stuff → senior prank, crush list, senior assassin</a:t>
            </a:r>
            <a:endParaRPr>
              <a:latin typeface="Lato"/>
              <a:ea typeface="Lato"/>
              <a:cs typeface="Lato"/>
              <a:sym typeface="Lato"/>
            </a:endParaRPr>
          </a:p>
          <a:p>
            <a:pPr marL="0" lvl="0" indent="0" algn="l" rtl="0">
              <a:spcBef>
                <a:spcPts val="0"/>
              </a:spcBef>
              <a:spcAft>
                <a:spcPts val="0"/>
              </a:spcAft>
              <a:buNone/>
            </a:pPr>
            <a:endParaRPr>
              <a:solidFill>
                <a:srgbClr val="FFFFFF"/>
              </a:solidFill>
              <a:latin typeface="Lato"/>
              <a:ea typeface="Lato"/>
              <a:cs typeface="Lato"/>
              <a:sym typeface="Lato"/>
            </a:endParaRPr>
          </a:p>
        </p:txBody>
      </p:sp>
      <p:sp>
        <p:nvSpPr>
          <p:cNvPr id="241" name="Google Shape;241;p22"/>
          <p:cNvSpPr txBox="1"/>
          <p:nvPr/>
        </p:nvSpPr>
        <p:spPr>
          <a:xfrm>
            <a:off x="5617675" y="3589275"/>
            <a:ext cx="1521300" cy="6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Synergy Machine Learning</a:t>
            </a:r>
            <a:endParaRPr>
              <a:latin typeface="Lato"/>
              <a:ea typeface="Lato"/>
              <a:cs typeface="Lato"/>
              <a:sym typeface="Lato"/>
            </a:endParaRPr>
          </a:p>
        </p:txBody>
      </p:sp>
      <p:sp>
        <p:nvSpPr>
          <p:cNvPr id="242" name="Google Shape;242;p22"/>
          <p:cNvSpPr txBox="1"/>
          <p:nvPr/>
        </p:nvSpPr>
        <p:spPr>
          <a:xfrm>
            <a:off x="6354625" y="1426463"/>
            <a:ext cx="13011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Gift Card Idea</a:t>
            </a:r>
            <a:endParaRPr>
              <a:latin typeface="Lato"/>
              <a:ea typeface="Lato"/>
              <a:cs typeface="Lato"/>
              <a:sym typeface="Lato"/>
            </a:endParaRPr>
          </a:p>
        </p:txBody>
      </p:sp>
      <p:sp>
        <p:nvSpPr>
          <p:cNvPr id="243" name="Google Shape;243;p22"/>
          <p:cNvSpPr txBox="1"/>
          <p:nvPr/>
        </p:nvSpPr>
        <p:spPr>
          <a:xfrm>
            <a:off x="6670700" y="4177813"/>
            <a:ext cx="13011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Food mapping</a:t>
            </a:r>
            <a:endParaRPr>
              <a:latin typeface="Lato"/>
              <a:ea typeface="Lato"/>
              <a:cs typeface="Lato"/>
              <a:sym typeface="Lato"/>
            </a:endParaRPr>
          </a:p>
        </p:txBody>
      </p:sp>
      <p:cxnSp>
        <p:nvCxnSpPr>
          <p:cNvPr id="244" name="Google Shape;244;p22"/>
          <p:cNvCxnSpPr/>
          <p:nvPr/>
        </p:nvCxnSpPr>
        <p:spPr>
          <a:xfrm>
            <a:off x="1118050" y="2033550"/>
            <a:ext cx="12600" cy="927000"/>
          </a:xfrm>
          <a:prstGeom prst="straightConnector1">
            <a:avLst/>
          </a:prstGeom>
          <a:noFill/>
          <a:ln w="28575" cap="flat" cmpd="sng">
            <a:solidFill>
              <a:schemeClr val="dk2"/>
            </a:solidFill>
            <a:prstDash val="solid"/>
            <a:round/>
            <a:headEnd type="none" w="med" len="med"/>
            <a:tailEnd type="triangle" w="med" len="med"/>
          </a:ln>
        </p:spPr>
      </p:cxnSp>
      <p:cxnSp>
        <p:nvCxnSpPr>
          <p:cNvPr id="245" name="Google Shape;245;p22"/>
          <p:cNvCxnSpPr/>
          <p:nvPr/>
        </p:nvCxnSpPr>
        <p:spPr>
          <a:xfrm>
            <a:off x="1867350" y="2663213"/>
            <a:ext cx="0" cy="304800"/>
          </a:xfrm>
          <a:prstGeom prst="straightConnector1">
            <a:avLst/>
          </a:prstGeom>
          <a:noFill/>
          <a:ln w="28575" cap="flat" cmpd="sng">
            <a:solidFill>
              <a:schemeClr val="dk2"/>
            </a:solidFill>
            <a:prstDash val="solid"/>
            <a:round/>
            <a:headEnd type="none" w="med" len="med"/>
            <a:tailEnd type="triangle" w="med" len="med"/>
          </a:ln>
        </p:spPr>
      </p:cxnSp>
      <p:cxnSp>
        <p:nvCxnSpPr>
          <p:cNvPr id="246" name="Google Shape;246;p22"/>
          <p:cNvCxnSpPr/>
          <p:nvPr/>
        </p:nvCxnSpPr>
        <p:spPr>
          <a:xfrm rot="10800000" flipH="1">
            <a:off x="1511750" y="3113050"/>
            <a:ext cx="12600" cy="647700"/>
          </a:xfrm>
          <a:prstGeom prst="straightConnector1">
            <a:avLst/>
          </a:prstGeom>
          <a:noFill/>
          <a:ln w="28575" cap="flat" cmpd="sng">
            <a:solidFill>
              <a:schemeClr val="dk2"/>
            </a:solidFill>
            <a:prstDash val="solid"/>
            <a:round/>
            <a:headEnd type="none" w="med" len="med"/>
            <a:tailEnd type="triangle" w="med" len="med"/>
          </a:ln>
        </p:spPr>
      </p:cxnSp>
      <p:cxnSp>
        <p:nvCxnSpPr>
          <p:cNvPr id="247" name="Google Shape;247;p22"/>
          <p:cNvCxnSpPr>
            <a:stCxn id="236" idx="0"/>
          </p:cNvCxnSpPr>
          <p:nvPr/>
        </p:nvCxnSpPr>
        <p:spPr>
          <a:xfrm rot="10800000" flipH="1">
            <a:off x="2199850" y="3103050"/>
            <a:ext cx="35700" cy="1218000"/>
          </a:xfrm>
          <a:prstGeom prst="straightConnector1">
            <a:avLst/>
          </a:prstGeom>
          <a:noFill/>
          <a:ln w="28575" cap="flat" cmpd="sng">
            <a:solidFill>
              <a:schemeClr val="dk2"/>
            </a:solidFill>
            <a:prstDash val="solid"/>
            <a:round/>
            <a:headEnd type="none" w="med" len="med"/>
            <a:tailEnd type="triangle" w="med" len="med"/>
          </a:ln>
        </p:spPr>
      </p:cxnSp>
      <p:cxnSp>
        <p:nvCxnSpPr>
          <p:cNvPr id="248" name="Google Shape;248;p22"/>
          <p:cNvCxnSpPr/>
          <p:nvPr/>
        </p:nvCxnSpPr>
        <p:spPr>
          <a:xfrm>
            <a:off x="3886650" y="1871275"/>
            <a:ext cx="0" cy="1066800"/>
          </a:xfrm>
          <a:prstGeom prst="straightConnector1">
            <a:avLst/>
          </a:prstGeom>
          <a:noFill/>
          <a:ln w="28575" cap="flat" cmpd="sng">
            <a:solidFill>
              <a:schemeClr val="dk2"/>
            </a:solidFill>
            <a:prstDash val="solid"/>
            <a:round/>
            <a:headEnd type="none" w="med" len="med"/>
            <a:tailEnd type="triangle" w="med" len="med"/>
          </a:ln>
        </p:spPr>
      </p:cxnSp>
      <p:cxnSp>
        <p:nvCxnSpPr>
          <p:cNvPr id="249" name="Google Shape;249;p22"/>
          <p:cNvCxnSpPr/>
          <p:nvPr/>
        </p:nvCxnSpPr>
        <p:spPr>
          <a:xfrm rot="10800000" flipH="1">
            <a:off x="4229550" y="3077875"/>
            <a:ext cx="25500" cy="279300"/>
          </a:xfrm>
          <a:prstGeom prst="straightConnector1">
            <a:avLst/>
          </a:prstGeom>
          <a:noFill/>
          <a:ln w="9525" cap="flat" cmpd="sng">
            <a:solidFill>
              <a:schemeClr val="dk2"/>
            </a:solidFill>
            <a:prstDash val="solid"/>
            <a:round/>
            <a:headEnd type="none" w="med" len="med"/>
            <a:tailEnd type="triangle" w="med" len="med"/>
          </a:ln>
        </p:spPr>
      </p:cxnSp>
      <p:cxnSp>
        <p:nvCxnSpPr>
          <p:cNvPr id="250" name="Google Shape;250;p22"/>
          <p:cNvCxnSpPr/>
          <p:nvPr/>
        </p:nvCxnSpPr>
        <p:spPr>
          <a:xfrm rot="10800000">
            <a:off x="5372550" y="3050875"/>
            <a:ext cx="0" cy="1258800"/>
          </a:xfrm>
          <a:prstGeom prst="straightConnector1">
            <a:avLst/>
          </a:prstGeom>
          <a:noFill/>
          <a:ln w="28575" cap="flat" cmpd="sng">
            <a:solidFill>
              <a:schemeClr val="dk2"/>
            </a:solidFill>
            <a:prstDash val="solid"/>
            <a:round/>
            <a:headEnd type="none" w="med" len="med"/>
            <a:tailEnd type="triangle" w="med" len="med"/>
          </a:ln>
        </p:spPr>
      </p:cxnSp>
      <p:cxnSp>
        <p:nvCxnSpPr>
          <p:cNvPr id="251" name="Google Shape;251;p22"/>
          <p:cNvCxnSpPr/>
          <p:nvPr/>
        </p:nvCxnSpPr>
        <p:spPr>
          <a:xfrm>
            <a:off x="5740850" y="2528850"/>
            <a:ext cx="0" cy="457200"/>
          </a:xfrm>
          <a:prstGeom prst="straightConnector1">
            <a:avLst/>
          </a:prstGeom>
          <a:noFill/>
          <a:ln w="28575" cap="flat" cmpd="sng">
            <a:solidFill>
              <a:schemeClr val="dk2"/>
            </a:solidFill>
            <a:prstDash val="solid"/>
            <a:round/>
            <a:headEnd type="none" w="med" len="med"/>
            <a:tailEnd type="triangle" w="med" len="med"/>
          </a:ln>
        </p:spPr>
      </p:cxnSp>
      <p:cxnSp>
        <p:nvCxnSpPr>
          <p:cNvPr id="252" name="Google Shape;252;p22"/>
          <p:cNvCxnSpPr/>
          <p:nvPr/>
        </p:nvCxnSpPr>
        <p:spPr>
          <a:xfrm rot="10800000">
            <a:off x="6058450" y="3062250"/>
            <a:ext cx="12600" cy="533400"/>
          </a:xfrm>
          <a:prstGeom prst="straightConnector1">
            <a:avLst/>
          </a:prstGeom>
          <a:noFill/>
          <a:ln w="28575" cap="flat" cmpd="sng">
            <a:solidFill>
              <a:schemeClr val="dk2"/>
            </a:solidFill>
            <a:prstDash val="solid"/>
            <a:round/>
            <a:headEnd type="none" w="med" len="med"/>
            <a:tailEnd type="triangle" w="med" len="med"/>
          </a:ln>
        </p:spPr>
      </p:cxnSp>
      <p:cxnSp>
        <p:nvCxnSpPr>
          <p:cNvPr id="253" name="Google Shape;253;p22"/>
          <p:cNvCxnSpPr/>
          <p:nvPr/>
        </p:nvCxnSpPr>
        <p:spPr>
          <a:xfrm rot="10800000">
            <a:off x="7315550" y="3074850"/>
            <a:ext cx="12000" cy="1133400"/>
          </a:xfrm>
          <a:prstGeom prst="straightConnector1">
            <a:avLst/>
          </a:prstGeom>
          <a:noFill/>
          <a:ln w="28575" cap="flat" cmpd="sng">
            <a:solidFill>
              <a:schemeClr val="dk2"/>
            </a:solidFill>
            <a:prstDash val="solid"/>
            <a:round/>
            <a:headEnd type="none" w="med" len="med"/>
            <a:tailEnd type="triangle" w="med" len="med"/>
          </a:ln>
        </p:spPr>
      </p:cxnSp>
      <p:cxnSp>
        <p:nvCxnSpPr>
          <p:cNvPr id="254" name="Google Shape;254;p22"/>
          <p:cNvCxnSpPr/>
          <p:nvPr/>
        </p:nvCxnSpPr>
        <p:spPr>
          <a:xfrm>
            <a:off x="7125150" y="1843050"/>
            <a:ext cx="25500" cy="1104900"/>
          </a:xfrm>
          <a:prstGeom prst="straightConnector1">
            <a:avLst/>
          </a:prstGeom>
          <a:noFill/>
          <a:ln w="28575" cap="flat" cmpd="sng">
            <a:solidFill>
              <a:schemeClr val="dk2"/>
            </a:solidFill>
            <a:prstDash val="solid"/>
            <a:round/>
            <a:headEnd type="none" w="med" len="med"/>
            <a:tailEnd type="triangle" w="med" len="med"/>
          </a:ln>
        </p:spPr>
      </p:cxnSp>
      <p:cxnSp>
        <p:nvCxnSpPr>
          <p:cNvPr id="255" name="Google Shape;255;p22"/>
          <p:cNvCxnSpPr/>
          <p:nvPr/>
        </p:nvCxnSpPr>
        <p:spPr>
          <a:xfrm>
            <a:off x="7658550" y="2389150"/>
            <a:ext cx="25500" cy="571500"/>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Market</a:t>
            </a:r>
            <a:endParaRPr/>
          </a:p>
        </p:txBody>
      </p:sp>
      <p:sp>
        <p:nvSpPr>
          <p:cNvPr id="261" name="Google Shape;261;p2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Our audience are students in institutions</a:t>
            </a:r>
            <a:endParaRPr sz="2400"/>
          </a:p>
          <a:p>
            <a:pPr marL="914400" lvl="1" indent="-381000" algn="l" rtl="0">
              <a:spcBef>
                <a:spcPts val="0"/>
              </a:spcBef>
              <a:spcAft>
                <a:spcPts val="0"/>
              </a:spcAft>
              <a:buSzPts val="2400"/>
              <a:buChar char="○"/>
            </a:pPr>
            <a:r>
              <a:rPr lang="en" sz="2400"/>
              <a:t>College</a:t>
            </a:r>
            <a:endParaRPr sz="2400"/>
          </a:p>
          <a:p>
            <a:pPr marL="914400" lvl="1" indent="-381000" algn="l" rtl="0">
              <a:spcBef>
                <a:spcPts val="0"/>
              </a:spcBef>
              <a:spcAft>
                <a:spcPts val="0"/>
              </a:spcAft>
              <a:buSzPts val="2400"/>
              <a:buChar char="○"/>
            </a:pPr>
            <a:r>
              <a:rPr lang="en" sz="2400"/>
              <a:t>High School</a:t>
            </a:r>
            <a:endParaRPr sz="2400"/>
          </a:p>
          <a:p>
            <a:pPr marL="457200" lvl="0" indent="-381000" algn="l" rtl="0">
              <a:spcBef>
                <a:spcPts val="0"/>
              </a:spcBef>
              <a:spcAft>
                <a:spcPts val="0"/>
              </a:spcAft>
              <a:buSzPts val="2400"/>
              <a:buChar char="●"/>
            </a:pPr>
            <a:r>
              <a:rPr lang="en" sz="2400"/>
              <a:t>Most education companies target educators</a:t>
            </a:r>
            <a:endParaRPr sz="2400"/>
          </a:p>
          <a:p>
            <a:pPr marL="457200" lvl="0" indent="-381000" algn="l" rtl="0">
              <a:spcBef>
                <a:spcPts val="0"/>
              </a:spcBef>
              <a:spcAft>
                <a:spcPts val="0"/>
              </a:spcAft>
              <a:buSzPts val="2400"/>
              <a:buChar char="●"/>
            </a:pPr>
            <a:r>
              <a:rPr lang="en" sz="2400" b="1"/>
              <a:t>Large untapped audience</a:t>
            </a:r>
            <a:endParaRPr sz="2400" b="1"/>
          </a:p>
        </p:txBody>
      </p:sp>
      <p:sp>
        <p:nvSpPr>
          <p:cNvPr id="262" name="Google Shape;262;p23"/>
          <p:cNvSpPr txBox="1"/>
          <p:nvPr/>
        </p:nvSpPr>
        <p:spPr>
          <a:xfrm>
            <a:off x="1324500" y="4153650"/>
            <a:ext cx="6984900" cy="8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a:highlight>
                  <a:srgbClr val="CCCCCC"/>
                </a:highlight>
                <a:latin typeface="Lato"/>
                <a:ea typeface="Lato"/>
                <a:cs typeface="Lato"/>
                <a:sym typeface="Lato"/>
              </a:rPr>
              <a:t>WE DON'T SOLVE EDUCATOR'S ISSUES</a:t>
            </a:r>
            <a:endParaRPr sz="3000">
              <a:highlight>
                <a:srgbClr val="CCCCCC"/>
              </a:highlight>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4"/>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https://www.youtube.com/watch?v=-90iRQbd0fg</a:t>
            </a:r>
            <a:endParaRPr>
              <a:latin typeface="Lato"/>
              <a:ea typeface="Lato"/>
              <a:cs typeface="Lato"/>
              <a:sym typeface="Lato"/>
            </a:endParaRPr>
          </a:p>
        </p:txBody>
      </p:sp>
      <p:pic>
        <p:nvPicPr>
          <p:cNvPr id="268" name="Google Shape;268;p24" title="I already fired you! (Jobs)">
            <a:hlinkClick r:id="rId4"/>
          </p:cNvPr>
          <p:cNvPicPr preferRelativeResize="0"/>
          <p:nvPr/>
        </p:nvPicPr>
        <p:blipFill>
          <a:blip r:embed="rId5">
            <a:alphaModFix/>
          </a:blip>
          <a:stretch>
            <a:fillRect/>
          </a:stretch>
        </p:blipFill>
        <p:spPr>
          <a:xfrm>
            <a:off x="1994638" y="497400"/>
            <a:ext cx="5154725" cy="3866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Current Situation</a:t>
            </a:r>
            <a:endParaRPr/>
          </a:p>
        </p:txBody>
      </p:sp>
      <p:sp>
        <p:nvSpPr>
          <p:cNvPr id="274" name="Google Shape;274;p25"/>
          <p:cNvSpPr txBox="1">
            <a:spLocks noGrp="1"/>
          </p:cNvSpPr>
          <p:nvPr>
            <p:ph type="body" idx="1"/>
          </p:nvPr>
        </p:nvSpPr>
        <p:spPr>
          <a:xfrm>
            <a:off x="1297500" y="1567550"/>
            <a:ext cx="7038900" cy="1736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Education reform is a hot topic</a:t>
            </a:r>
            <a:endParaRPr sz="2400"/>
          </a:p>
          <a:p>
            <a:pPr marL="914400" lvl="1" indent="-381000" algn="l" rtl="0">
              <a:spcBef>
                <a:spcPts val="0"/>
              </a:spcBef>
              <a:spcAft>
                <a:spcPts val="0"/>
              </a:spcAft>
              <a:buSzPts val="2400"/>
              <a:buChar char="○"/>
            </a:pPr>
            <a:r>
              <a:rPr lang="en" sz="2400"/>
              <a:t>New school curriculums are being designed</a:t>
            </a:r>
            <a:endParaRPr sz="2400"/>
          </a:p>
          <a:p>
            <a:pPr marL="914400" lvl="1" indent="-381000" algn="l" rtl="0">
              <a:spcBef>
                <a:spcPts val="0"/>
              </a:spcBef>
              <a:spcAft>
                <a:spcPts val="0"/>
              </a:spcAft>
              <a:buSzPts val="2400"/>
              <a:buChar char="○"/>
            </a:pPr>
            <a:r>
              <a:rPr lang="en" sz="2400"/>
              <a:t>Political debates over common core</a:t>
            </a:r>
            <a:endParaRPr sz="2400"/>
          </a:p>
          <a:p>
            <a:pPr marL="914400" lvl="1" indent="-381000" algn="l" rtl="0">
              <a:spcBef>
                <a:spcPts val="0"/>
              </a:spcBef>
              <a:spcAft>
                <a:spcPts val="0"/>
              </a:spcAft>
              <a:buSzPts val="2400"/>
              <a:buChar char="○"/>
            </a:pPr>
            <a:r>
              <a:rPr lang="en" sz="2400"/>
              <a:t>Super progressive "High Tech High School"</a:t>
            </a:r>
            <a:endParaRPr sz="2400"/>
          </a:p>
        </p:txBody>
      </p:sp>
      <p:pic>
        <p:nvPicPr>
          <p:cNvPr id="275" name="Google Shape;275;p25"/>
          <p:cNvPicPr preferRelativeResize="0"/>
          <p:nvPr/>
        </p:nvPicPr>
        <p:blipFill>
          <a:blip r:embed="rId3">
            <a:alphaModFix/>
          </a:blip>
          <a:stretch>
            <a:fillRect/>
          </a:stretch>
        </p:blipFill>
        <p:spPr>
          <a:xfrm>
            <a:off x="3378000" y="3410700"/>
            <a:ext cx="2388000" cy="1653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6"/>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https://www.youtube.com/watch?v=xP-ZwmCPBAs</a:t>
            </a:r>
            <a:endParaRPr>
              <a:latin typeface="Lato"/>
              <a:ea typeface="Lato"/>
              <a:cs typeface="Lato"/>
              <a:sym typeface="Lato"/>
            </a:endParaRPr>
          </a:p>
        </p:txBody>
      </p:sp>
      <p:sp>
        <p:nvSpPr>
          <p:cNvPr id="281" name="Google Shape;281;p26"/>
          <p:cNvSpPr txBox="1"/>
          <p:nvPr/>
        </p:nvSpPr>
        <p:spPr>
          <a:xfrm>
            <a:off x="303075" y="1872025"/>
            <a:ext cx="16092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latin typeface="Lato"/>
                <a:ea typeface="Lato"/>
                <a:cs typeface="Lato"/>
                <a:sym typeface="Lato"/>
              </a:rPr>
              <a:t>What do people want</a:t>
            </a:r>
            <a:endParaRPr sz="1800" b="1">
              <a:solidFill>
                <a:srgbClr val="FFFFFF"/>
              </a:solidFill>
              <a:latin typeface="Lato"/>
              <a:ea typeface="Lato"/>
              <a:cs typeface="Lato"/>
              <a:sym typeface="Lato"/>
            </a:endParaRPr>
          </a:p>
        </p:txBody>
      </p:sp>
      <p:pic>
        <p:nvPicPr>
          <p:cNvPr id="282" name="Google Shape;282;p26" descr="Scene from Limitless in which the main character Eddie takes a pill called NZT for the first time which allows him to unlock 100% of his &quot;brain power.&quot;" title="Limitless Pill Scene">
            <a:hlinkClick r:id="rId4"/>
          </p:cNvPr>
          <p:cNvPicPr preferRelativeResize="0"/>
          <p:nvPr/>
        </p:nvPicPr>
        <p:blipFill>
          <a:blip r:embed="rId5">
            <a:alphaModFix/>
          </a:blip>
          <a:stretch>
            <a:fillRect/>
          </a:stretch>
        </p:blipFill>
        <p:spPr>
          <a:xfrm>
            <a:off x="2272250" y="407113"/>
            <a:ext cx="5048026" cy="3786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Business Model</a:t>
            </a:r>
            <a:endParaRPr/>
          </a:p>
        </p:txBody>
      </p:sp>
      <p:sp>
        <p:nvSpPr>
          <p:cNvPr id="288" name="Google Shape;288;p27"/>
          <p:cNvSpPr txBox="1">
            <a:spLocks noGrp="1"/>
          </p:cNvSpPr>
          <p:nvPr>
            <p:ph type="body" idx="1"/>
          </p:nvPr>
        </p:nvSpPr>
        <p:spPr>
          <a:xfrm>
            <a:off x="165925" y="1538150"/>
            <a:ext cx="5227800" cy="29112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a:t>Possible Models:</a:t>
            </a:r>
            <a:endParaRPr/>
          </a:p>
          <a:p>
            <a:pPr marL="457200" lvl="0" indent="-311150" algn="l" rtl="0">
              <a:spcBef>
                <a:spcPts val="1600"/>
              </a:spcBef>
              <a:spcAft>
                <a:spcPts val="0"/>
              </a:spcAft>
              <a:buSzPts val="1300"/>
              <a:buChar char="●"/>
            </a:pPr>
            <a:r>
              <a:rPr lang="en"/>
              <a:t>Sponsor model</a:t>
            </a:r>
            <a:endParaRPr/>
          </a:p>
          <a:p>
            <a:pPr marL="1371600" lvl="1" indent="-298450" algn="l" rtl="0">
              <a:spcBef>
                <a:spcPts val="0"/>
              </a:spcBef>
              <a:spcAft>
                <a:spcPts val="0"/>
              </a:spcAft>
              <a:buSzPts val="1100"/>
              <a:buChar char="○"/>
            </a:pPr>
            <a:r>
              <a:rPr lang="en"/>
              <a:t>Example</a:t>
            </a:r>
            <a:endParaRPr/>
          </a:p>
          <a:p>
            <a:pPr marL="1828800" lvl="2" indent="-298450" algn="l" rtl="0">
              <a:spcBef>
                <a:spcPts val="0"/>
              </a:spcBef>
              <a:spcAft>
                <a:spcPts val="0"/>
              </a:spcAft>
              <a:buSzPts val="1100"/>
              <a:buChar char="■"/>
            </a:pPr>
            <a:r>
              <a:rPr lang="en"/>
              <a:t>Sweatcoin</a:t>
            </a:r>
            <a:endParaRPr/>
          </a:p>
          <a:p>
            <a:pPr marL="2286000" lvl="3" indent="-298450" algn="l" rtl="0">
              <a:spcBef>
                <a:spcPts val="0"/>
              </a:spcBef>
              <a:spcAft>
                <a:spcPts val="0"/>
              </a:spcAft>
              <a:buSzPts val="1100"/>
              <a:buChar char="●"/>
            </a:pPr>
            <a:r>
              <a:rPr lang="en"/>
              <a:t>Companies pay to have their product on the website</a:t>
            </a:r>
            <a:endParaRPr/>
          </a:p>
          <a:p>
            <a:pPr marL="2286000" lvl="3" indent="-298450" algn="l" rtl="0">
              <a:spcBef>
                <a:spcPts val="0"/>
              </a:spcBef>
              <a:spcAft>
                <a:spcPts val="0"/>
              </a:spcAft>
              <a:buSzPts val="1100"/>
              <a:buChar char="●"/>
            </a:pPr>
            <a:r>
              <a:rPr lang="en"/>
              <a:t>Donate to charities</a:t>
            </a:r>
            <a:endParaRPr/>
          </a:p>
          <a:p>
            <a:pPr marL="1371600" lvl="1" indent="-298450" algn="l" rtl="0">
              <a:spcBef>
                <a:spcPts val="0"/>
              </a:spcBef>
              <a:spcAft>
                <a:spcPts val="0"/>
              </a:spcAft>
              <a:buSzPts val="1100"/>
              <a:buChar char="○"/>
            </a:pPr>
            <a:r>
              <a:rPr lang="en"/>
              <a:t>Sponsors provide gift cards to promote their product</a:t>
            </a:r>
            <a:endParaRPr/>
          </a:p>
          <a:p>
            <a:pPr marL="457200" lvl="0" indent="-311150" algn="l" rtl="0">
              <a:spcBef>
                <a:spcPts val="0"/>
              </a:spcBef>
              <a:spcAft>
                <a:spcPts val="0"/>
              </a:spcAft>
              <a:buSzPts val="1300"/>
              <a:buChar char="●"/>
            </a:pPr>
            <a:r>
              <a:rPr lang="en"/>
              <a:t>Non Intrusive ads</a:t>
            </a:r>
            <a:endParaRPr/>
          </a:p>
          <a:p>
            <a:pPr marL="1371600" lvl="1" indent="-298450" algn="l" rtl="0">
              <a:spcBef>
                <a:spcPts val="0"/>
              </a:spcBef>
              <a:spcAft>
                <a:spcPts val="0"/>
              </a:spcAft>
              <a:buSzPts val="1100"/>
              <a:buChar char="○"/>
            </a:pPr>
            <a:r>
              <a:rPr lang="en"/>
              <a:t>Example</a:t>
            </a:r>
            <a:endParaRPr/>
          </a:p>
          <a:p>
            <a:pPr marL="1828800" lvl="2" indent="-298450" algn="l" rtl="0">
              <a:spcBef>
                <a:spcPts val="0"/>
              </a:spcBef>
              <a:spcAft>
                <a:spcPts val="0"/>
              </a:spcAft>
              <a:buSzPts val="1100"/>
              <a:buChar char="■"/>
            </a:pPr>
            <a:r>
              <a:rPr lang="en"/>
              <a:t>Snapchat</a:t>
            </a:r>
            <a:endParaRPr/>
          </a:p>
          <a:p>
            <a:pPr marL="1371600" lvl="1" indent="-298450" algn="l" rtl="0">
              <a:spcBef>
                <a:spcPts val="0"/>
              </a:spcBef>
              <a:spcAft>
                <a:spcPts val="0"/>
              </a:spcAft>
              <a:buSzPts val="1100"/>
              <a:buChar char="○"/>
            </a:pPr>
            <a:r>
              <a:rPr lang="en"/>
              <a:t>Ads exist in a sectioned part of the application</a:t>
            </a:r>
            <a:endParaRPr/>
          </a:p>
        </p:txBody>
      </p:sp>
      <p:sp>
        <p:nvSpPr>
          <p:cNvPr id="289" name="Google Shape;289;p27"/>
          <p:cNvSpPr txBox="1">
            <a:spLocks noGrp="1"/>
          </p:cNvSpPr>
          <p:nvPr>
            <p:ph type="body" idx="1"/>
          </p:nvPr>
        </p:nvSpPr>
        <p:spPr>
          <a:xfrm>
            <a:off x="4572000" y="514900"/>
            <a:ext cx="4017300" cy="1382700"/>
          </a:xfrm>
          <a:prstGeom prst="rect">
            <a:avLst/>
          </a:prstGeom>
        </p:spPr>
        <p:txBody>
          <a:bodyPr spcFirstLastPara="1" wrap="square" lIns="91425" tIns="91425" rIns="91425" bIns="91425" anchor="t" anchorCtr="0">
            <a:noAutofit/>
          </a:bodyPr>
          <a:lstStyle/>
          <a:p>
            <a:pPr marL="914400" lvl="0" indent="0" algn="l" rtl="0">
              <a:spcBef>
                <a:spcPts val="0"/>
              </a:spcBef>
              <a:spcAft>
                <a:spcPts val="1600"/>
              </a:spcAft>
              <a:buNone/>
            </a:pPr>
            <a:r>
              <a:rPr lang="en" sz="6000"/>
              <a:t>TBD</a:t>
            </a:r>
            <a:endParaRPr sz="6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8"/>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https://www.youtube.com/watch?v=UdjGiIn9HMM</a:t>
            </a:r>
            <a:endParaRPr>
              <a:latin typeface="Lato"/>
              <a:ea typeface="Lato"/>
              <a:cs typeface="Lato"/>
              <a:sym typeface="Lato"/>
            </a:endParaRPr>
          </a:p>
        </p:txBody>
      </p:sp>
      <p:pic>
        <p:nvPicPr>
          <p:cNvPr id="295" name="Google Shape;295;p28" title="The Social Network - Relationship Status Scene">
            <a:hlinkClick r:id="rId4"/>
          </p:cNvPr>
          <p:cNvPicPr preferRelativeResize="0"/>
          <p:nvPr/>
        </p:nvPicPr>
        <p:blipFill>
          <a:blip r:embed="rId5">
            <a:alphaModFix/>
          </a:blip>
          <a:stretch>
            <a:fillRect/>
          </a:stretch>
        </p:blipFill>
        <p:spPr>
          <a:xfrm>
            <a:off x="1943038" y="325075"/>
            <a:ext cx="5027525" cy="3770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Marketing Strategy</a:t>
            </a:r>
            <a:endParaRPr/>
          </a:p>
        </p:txBody>
      </p:sp>
      <p:sp>
        <p:nvSpPr>
          <p:cNvPr id="301" name="Google Shape;301;p29"/>
          <p:cNvSpPr txBox="1">
            <a:spLocks noGrp="1"/>
          </p:cNvSpPr>
          <p:nvPr>
            <p:ph type="body" idx="1"/>
          </p:nvPr>
        </p:nvSpPr>
        <p:spPr>
          <a:xfrm>
            <a:off x="1297500" y="1567550"/>
            <a:ext cx="7038900" cy="144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"Little Bitcoin"</a:t>
            </a:r>
            <a:endParaRPr/>
          </a:p>
          <a:p>
            <a:pPr marL="457200" lvl="0" indent="-311150" algn="l" rtl="0">
              <a:spcBef>
                <a:spcPts val="0"/>
              </a:spcBef>
              <a:spcAft>
                <a:spcPts val="0"/>
              </a:spcAft>
              <a:buSzPts val="1300"/>
              <a:buChar char="●"/>
            </a:pPr>
            <a:r>
              <a:rPr lang="en"/>
              <a:t>Affiliate links</a:t>
            </a:r>
            <a:endParaRPr/>
          </a:p>
          <a:p>
            <a:pPr marL="914400" lvl="1" indent="-298450" algn="l" rtl="0">
              <a:spcBef>
                <a:spcPts val="0"/>
              </a:spcBef>
              <a:spcAft>
                <a:spcPts val="0"/>
              </a:spcAft>
              <a:buSzPts val="1100"/>
              <a:buChar char="○"/>
            </a:pPr>
            <a:r>
              <a:rPr lang="en"/>
              <a:t>People love free</a:t>
            </a:r>
            <a:endParaRPr/>
          </a:p>
          <a:p>
            <a:pPr marL="457200" lvl="0" indent="-311150" algn="l" rtl="0">
              <a:spcBef>
                <a:spcPts val="0"/>
              </a:spcBef>
              <a:spcAft>
                <a:spcPts val="0"/>
              </a:spcAft>
              <a:buSzPts val="1300"/>
              <a:buChar char="●"/>
            </a:pPr>
            <a:r>
              <a:rPr lang="en"/>
              <a:t>Recruit people from hackathons</a:t>
            </a:r>
            <a:endParaRPr/>
          </a:p>
          <a:p>
            <a:pPr marL="457200" lvl="0" indent="-311150" algn="l" rtl="0">
              <a:spcBef>
                <a:spcPts val="0"/>
              </a:spcBef>
              <a:spcAft>
                <a:spcPts val="0"/>
              </a:spcAft>
              <a:buSzPts val="1300"/>
              <a:buChar char="●"/>
            </a:pPr>
            <a:r>
              <a:rPr lang="en"/>
              <a:t>Ask Mithil for his data</a:t>
            </a:r>
            <a:endParaRPr/>
          </a:p>
          <a:p>
            <a:pPr marL="457200" lvl="0" indent="-311150" algn="l" rtl="0">
              <a:spcBef>
                <a:spcPts val="0"/>
              </a:spcBef>
              <a:spcAft>
                <a:spcPts val="0"/>
              </a:spcAft>
              <a:buSzPts val="1300"/>
              <a:buChar char="●"/>
            </a:pPr>
            <a:r>
              <a:rPr lang="en"/>
              <a:t>Launch X taught that customer influence is the most important resource</a:t>
            </a:r>
            <a:endParaRPr/>
          </a:p>
          <a:p>
            <a:pPr marL="914400" lvl="1" indent="-298450" algn="l" rtl="0">
              <a:spcBef>
                <a:spcPts val="0"/>
              </a:spcBef>
              <a:spcAft>
                <a:spcPts val="0"/>
              </a:spcAft>
              <a:buSzPts val="1100"/>
              <a:buChar char="○"/>
            </a:pPr>
            <a:r>
              <a:rPr lang="en"/>
              <a:t>Solve problems that exist</a:t>
            </a:r>
            <a:endParaRPr/>
          </a:p>
        </p:txBody>
      </p:sp>
      <p:sp>
        <p:nvSpPr>
          <p:cNvPr id="302" name="Google Shape;302;p29"/>
          <p:cNvSpPr txBox="1">
            <a:spLocks noGrp="1"/>
          </p:cNvSpPr>
          <p:nvPr>
            <p:ph type="body" idx="1"/>
          </p:nvPr>
        </p:nvSpPr>
        <p:spPr>
          <a:xfrm>
            <a:off x="4572000" y="514900"/>
            <a:ext cx="4017300" cy="1382700"/>
          </a:xfrm>
          <a:prstGeom prst="rect">
            <a:avLst/>
          </a:prstGeom>
        </p:spPr>
        <p:txBody>
          <a:bodyPr spcFirstLastPara="1" wrap="square" lIns="91425" tIns="91425" rIns="91425" bIns="91425" anchor="t" anchorCtr="0">
            <a:noAutofit/>
          </a:bodyPr>
          <a:lstStyle/>
          <a:p>
            <a:pPr marL="914400" lvl="0" indent="0" algn="l" rtl="0">
              <a:spcBef>
                <a:spcPts val="0"/>
              </a:spcBef>
              <a:spcAft>
                <a:spcPts val="1600"/>
              </a:spcAft>
              <a:buNone/>
            </a:pPr>
            <a:r>
              <a:rPr lang="en" sz="6000"/>
              <a:t>TBD</a:t>
            </a:r>
            <a:endParaRPr sz="6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0"/>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https://www.youtube.com/watch?v=cFEarBzelBs</a:t>
            </a:r>
            <a:endParaRPr>
              <a:latin typeface="Lato"/>
              <a:ea typeface="Lato"/>
              <a:cs typeface="Lato"/>
              <a:sym typeface="Lato"/>
            </a:endParaRPr>
          </a:p>
        </p:txBody>
      </p:sp>
      <p:pic>
        <p:nvPicPr>
          <p:cNvPr id="308" name="Google Shape;308;p30" descr="www.applewebmaster.com &#10;Apple's Think Different advertising campaign. 1997-2002 &#10;Full version." title="Apple - Think Different - Full Version">
            <a:hlinkClick r:id="rId4"/>
          </p:cNvPr>
          <p:cNvPicPr preferRelativeResize="0"/>
          <p:nvPr/>
        </p:nvPicPr>
        <p:blipFill>
          <a:blip r:embed="rId5">
            <a:alphaModFix/>
          </a:blip>
          <a:stretch>
            <a:fillRect/>
          </a:stretch>
        </p:blipFill>
        <p:spPr>
          <a:xfrm>
            <a:off x="2170800" y="636800"/>
            <a:ext cx="4572000" cy="3429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Competitor Landscape</a:t>
            </a:r>
            <a:endParaRPr/>
          </a:p>
        </p:txBody>
      </p:sp>
      <p:sp>
        <p:nvSpPr>
          <p:cNvPr id="314" name="Google Shape;314;p31"/>
          <p:cNvSpPr txBox="1">
            <a:spLocks noGrp="1"/>
          </p:cNvSpPr>
          <p:nvPr>
            <p:ph type="body" idx="1"/>
          </p:nvPr>
        </p:nvSpPr>
        <p:spPr>
          <a:xfrm>
            <a:off x="1927800" y="2919550"/>
            <a:ext cx="5288400" cy="2122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AutoNum type="arabicPeriod"/>
            </a:pPr>
            <a:r>
              <a:rPr lang="en"/>
              <a:t>All platform decisions are democratic and student led</a:t>
            </a:r>
            <a:endParaRPr/>
          </a:p>
          <a:p>
            <a:pPr marL="914400" lvl="1" indent="-298450" algn="l" rtl="0">
              <a:spcBef>
                <a:spcPts val="0"/>
              </a:spcBef>
              <a:spcAft>
                <a:spcPts val="0"/>
              </a:spcAft>
              <a:buSzPts val="1100"/>
              <a:buAutoNum type="alphaLcPeriod"/>
            </a:pPr>
            <a:r>
              <a:rPr lang="en"/>
              <a:t>COMMUNITY</a:t>
            </a:r>
            <a:endParaRPr/>
          </a:p>
          <a:p>
            <a:pPr marL="457200" lvl="0" indent="-311150" algn="l" rtl="0">
              <a:spcBef>
                <a:spcPts val="0"/>
              </a:spcBef>
              <a:spcAft>
                <a:spcPts val="0"/>
              </a:spcAft>
              <a:buSzPts val="1300"/>
              <a:buAutoNum type="arabicPeriod"/>
            </a:pPr>
            <a:r>
              <a:rPr lang="en"/>
              <a:t>The students define the quality of their experience</a:t>
            </a:r>
            <a:endParaRPr/>
          </a:p>
          <a:p>
            <a:pPr marL="914400" lvl="1" indent="-298450" algn="l" rtl="0">
              <a:spcBef>
                <a:spcPts val="0"/>
              </a:spcBef>
              <a:spcAft>
                <a:spcPts val="0"/>
              </a:spcAft>
              <a:buSzPts val="1100"/>
              <a:buAutoNum type="alphaLcPeriod"/>
            </a:pPr>
            <a:r>
              <a:rPr lang="en"/>
              <a:t>STUDENT LED</a:t>
            </a:r>
            <a:endParaRPr/>
          </a:p>
          <a:p>
            <a:pPr marL="457200" lvl="0" indent="-311150" algn="l" rtl="0">
              <a:spcBef>
                <a:spcPts val="0"/>
              </a:spcBef>
              <a:spcAft>
                <a:spcPts val="0"/>
              </a:spcAft>
              <a:buSzPts val="1300"/>
              <a:buAutoNum type="arabicPeriod"/>
            </a:pPr>
            <a:r>
              <a:rPr lang="en"/>
              <a:t>Only student emails</a:t>
            </a:r>
            <a:endParaRPr/>
          </a:p>
          <a:p>
            <a:pPr marL="914400" lvl="1" indent="-298450" algn="l" rtl="0">
              <a:spcBef>
                <a:spcPts val="0"/>
              </a:spcBef>
              <a:spcAft>
                <a:spcPts val="0"/>
              </a:spcAft>
              <a:buSzPts val="1100"/>
              <a:buAutoNum type="alphaLcPeriod"/>
            </a:pPr>
            <a:r>
              <a:rPr lang="en"/>
              <a:t>EXCLUSIVE</a:t>
            </a:r>
            <a:endParaRPr/>
          </a:p>
          <a:p>
            <a:pPr marL="457200" lvl="0" indent="-311150" algn="l" rtl="0">
              <a:spcBef>
                <a:spcPts val="0"/>
              </a:spcBef>
              <a:spcAft>
                <a:spcPts val="0"/>
              </a:spcAft>
              <a:buSzPts val="1300"/>
              <a:buAutoNum type="arabicPeriod"/>
            </a:pPr>
            <a:r>
              <a:rPr lang="en"/>
              <a:t>Everything a student needs (don't need to login to several apps)</a:t>
            </a:r>
            <a:endParaRPr/>
          </a:p>
          <a:p>
            <a:pPr marL="914400" lvl="1" indent="-298450" algn="l" rtl="0">
              <a:spcBef>
                <a:spcPts val="0"/>
              </a:spcBef>
              <a:spcAft>
                <a:spcPts val="0"/>
              </a:spcAft>
              <a:buSzPts val="1100"/>
              <a:buAutoNum type="alphaLcPeriod"/>
            </a:pPr>
            <a:r>
              <a:rPr lang="en"/>
              <a:t>INTEGRATED</a:t>
            </a:r>
            <a:endParaRPr/>
          </a:p>
        </p:txBody>
      </p:sp>
      <p:pic>
        <p:nvPicPr>
          <p:cNvPr id="315" name="Google Shape;315;p31"/>
          <p:cNvPicPr preferRelativeResize="0"/>
          <p:nvPr/>
        </p:nvPicPr>
        <p:blipFill>
          <a:blip r:embed="rId3">
            <a:alphaModFix/>
          </a:blip>
          <a:stretch>
            <a:fillRect/>
          </a:stretch>
        </p:blipFill>
        <p:spPr>
          <a:xfrm>
            <a:off x="4837200" y="999225"/>
            <a:ext cx="3499200" cy="1788100"/>
          </a:xfrm>
          <a:prstGeom prst="rect">
            <a:avLst/>
          </a:prstGeom>
          <a:noFill/>
          <a:ln>
            <a:noFill/>
          </a:ln>
        </p:spPr>
      </p:pic>
      <p:pic>
        <p:nvPicPr>
          <p:cNvPr id="316" name="Google Shape;316;p31"/>
          <p:cNvPicPr preferRelativeResize="0"/>
          <p:nvPr/>
        </p:nvPicPr>
        <p:blipFill>
          <a:blip r:embed="rId4">
            <a:alphaModFix/>
          </a:blip>
          <a:stretch>
            <a:fillRect/>
          </a:stretch>
        </p:blipFill>
        <p:spPr>
          <a:xfrm>
            <a:off x="490400" y="1386775"/>
            <a:ext cx="3648075" cy="1247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2"/>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https://www.youtube.com/watch?v=w61d-NBqafM</a:t>
            </a:r>
            <a:endParaRPr>
              <a:latin typeface="Lato"/>
              <a:ea typeface="Lato"/>
              <a:cs typeface="Lato"/>
              <a:sym typeface="Lato"/>
            </a:endParaRPr>
          </a:p>
        </p:txBody>
      </p:sp>
      <p:pic>
        <p:nvPicPr>
          <p:cNvPr id="322" name="Google Shape;322;p32" descr="It's a Jared Thing! 😎 Great London Horse Manure Crisis of 1894 😲😅 ↓↓↓ &#10;&#10;Starring: Donald 'Jared' Dunn (Zach Woods), Emily (Emily Chang) + ... &#10;&#10;Speech @ Bloomberg. Horse Shit Crisis 😝 &#10;&#10;&#10;Copyright: © HBO, All the Creators! (Watch All, Full Episodes) &#10;http://hbo.com/silicon-valley &#10;&#10;&#10;Donald 'Jared' Dunn (Playlist) &#10;https://youtube.com/playlist?list=PL3KJscIriIxEXlCC1Pf7nTjso5BfZoWQg &#10;&#10;&#10;Silicon Valley Montage (Playlist) &#10;https://youtube.com/playlist?list=PL3KJscIriIxGBJrr4GzPO_cglwWTr0nXa &#10;&#10;&#10;Like, Comment, Share, Subscribe! 😊" title="MANURE (Jared's Analogy, Bloomberg) Silicon Valley">
            <a:hlinkClick r:id="rId4"/>
          </p:cNvPr>
          <p:cNvPicPr preferRelativeResize="0"/>
          <p:nvPr/>
        </p:nvPicPr>
        <p:blipFill>
          <a:blip r:embed="rId5">
            <a:alphaModFix/>
          </a:blip>
          <a:stretch>
            <a:fillRect/>
          </a:stretch>
        </p:blipFill>
        <p:spPr>
          <a:xfrm>
            <a:off x="1796438" y="281025"/>
            <a:ext cx="5320726" cy="3990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Projects Maxims (ISEC)</a:t>
            </a:r>
            <a:endParaRPr/>
          </a:p>
        </p:txBody>
      </p:sp>
      <p:sp>
        <p:nvSpPr>
          <p:cNvPr id="328" name="Google Shape;328;p33"/>
          <p:cNvSpPr/>
          <p:nvPr/>
        </p:nvSpPr>
        <p:spPr>
          <a:xfrm>
            <a:off x="1484625" y="1528100"/>
            <a:ext cx="5701800" cy="30129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9" name="Google Shape;329;p33"/>
          <p:cNvCxnSpPr>
            <a:endCxn id="328" idx="2"/>
          </p:cNvCxnSpPr>
          <p:nvPr/>
        </p:nvCxnSpPr>
        <p:spPr>
          <a:xfrm flipH="1">
            <a:off x="4335525" y="1513400"/>
            <a:ext cx="14700" cy="3027600"/>
          </a:xfrm>
          <a:prstGeom prst="straightConnector1">
            <a:avLst/>
          </a:prstGeom>
          <a:noFill/>
          <a:ln w="28575" cap="flat" cmpd="sng">
            <a:solidFill>
              <a:srgbClr val="000000"/>
            </a:solidFill>
            <a:prstDash val="solid"/>
            <a:round/>
            <a:headEnd type="none" w="med" len="med"/>
            <a:tailEnd type="none" w="med" len="med"/>
          </a:ln>
        </p:spPr>
      </p:cxnSp>
      <p:cxnSp>
        <p:nvCxnSpPr>
          <p:cNvPr id="330" name="Google Shape;330;p33"/>
          <p:cNvCxnSpPr>
            <a:stCxn id="328" idx="1"/>
            <a:endCxn id="328" idx="3"/>
          </p:cNvCxnSpPr>
          <p:nvPr/>
        </p:nvCxnSpPr>
        <p:spPr>
          <a:xfrm>
            <a:off x="1484625" y="3034550"/>
            <a:ext cx="5701800" cy="0"/>
          </a:xfrm>
          <a:prstGeom prst="straightConnector1">
            <a:avLst/>
          </a:prstGeom>
          <a:noFill/>
          <a:ln w="28575" cap="flat" cmpd="sng">
            <a:solidFill>
              <a:srgbClr val="000000"/>
            </a:solidFill>
            <a:prstDash val="solid"/>
            <a:round/>
            <a:headEnd type="none" w="med" len="med"/>
            <a:tailEnd type="none" w="med" len="med"/>
          </a:ln>
        </p:spPr>
      </p:cxnSp>
      <p:sp>
        <p:nvSpPr>
          <p:cNvPr id="331" name="Google Shape;331;p33"/>
          <p:cNvSpPr txBox="1"/>
          <p:nvPr/>
        </p:nvSpPr>
        <p:spPr>
          <a:xfrm>
            <a:off x="1910625" y="1980700"/>
            <a:ext cx="2424900" cy="91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latin typeface="Lato"/>
                <a:ea typeface="Lato"/>
                <a:cs typeface="Lato"/>
                <a:sym typeface="Lato"/>
              </a:rPr>
              <a:t>Integrated</a:t>
            </a:r>
            <a:endParaRPr sz="3000" b="1">
              <a:latin typeface="Lato"/>
              <a:ea typeface="Lato"/>
              <a:cs typeface="Lato"/>
              <a:sym typeface="Lato"/>
            </a:endParaRPr>
          </a:p>
        </p:txBody>
      </p:sp>
      <p:sp>
        <p:nvSpPr>
          <p:cNvPr id="332" name="Google Shape;332;p33"/>
          <p:cNvSpPr txBox="1"/>
          <p:nvPr/>
        </p:nvSpPr>
        <p:spPr>
          <a:xfrm>
            <a:off x="4640325" y="3299500"/>
            <a:ext cx="2424900" cy="91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latin typeface="Lato"/>
                <a:ea typeface="Lato"/>
                <a:cs typeface="Lato"/>
                <a:sym typeface="Lato"/>
              </a:rPr>
              <a:t>Community</a:t>
            </a:r>
            <a:endParaRPr sz="3000" b="1">
              <a:latin typeface="Lato"/>
              <a:ea typeface="Lato"/>
              <a:cs typeface="Lato"/>
              <a:sym typeface="Lato"/>
            </a:endParaRPr>
          </a:p>
        </p:txBody>
      </p:sp>
      <p:sp>
        <p:nvSpPr>
          <p:cNvPr id="333" name="Google Shape;333;p33"/>
          <p:cNvSpPr txBox="1"/>
          <p:nvPr/>
        </p:nvSpPr>
        <p:spPr>
          <a:xfrm>
            <a:off x="1910625" y="3299500"/>
            <a:ext cx="2424900" cy="91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latin typeface="Lato"/>
                <a:ea typeface="Lato"/>
                <a:cs typeface="Lato"/>
                <a:sym typeface="Lato"/>
              </a:rPr>
              <a:t>Exclusive</a:t>
            </a:r>
            <a:endParaRPr sz="3000" b="1">
              <a:latin typeface="Lato"/>
              <a:ea typeface="Lato"/>
              <a:cs typeface="Lato"/>
              <a:sym typeface="Lato"/>
            </a:endParaRPr>
          </a:p>
        </p:txBody>
      </p:sp>
      <p:sp>
        <p:nvSpPr>
          <p:cNvPr id="334" name="Google Shape;334;p33"/>
          <p:cNvSpPr txBox="1"/>
          <p:nvPr/>
        </p:nvSpPr>
        <p:spPr>
          <a:xfrm>
            <a:off x="4640325" y="1980700"/>
            <a:ext cx="2424900" cy="91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latin typeface="Lato"/>
                <a:ea typeface="Lato"/>
                <a:cs typeface="Lato"/>
                <a:sym typeface="Lato"/>
              </a:rPr>
              <a:t>Student Led</a:t>
            </a:r>
            <a:endParaRPr sz="3000" b="1">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4"/>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http://www.youtube.com/watch?v=LYu-d6y5HRo&amp;t=0m36s</a:t>
            </a:r>
            <a:endParaRPr>
              <a:latin typeface="Lato"/>
              <a:ea typeface="Lato"/>
              <a:cs typeface="Lato"/>
              <a:sym typeface="Lato"/>
            </a:endParaRPr>
          </a:p>
        </p:txBody>
      </p:sp>
      <p:pic>
        <p:nvPicPr>
          <p:cNvPr id="340" name="Google Shape;340;p34" descr="One of the candidates Richard rejected is also at the reception. It’s Duncan, the pizza-app guy. Unfortunately, Duncan tells Richard that his Sliceline app is about to take off, so he doesn’t want to be considered for Pied Piper anymore. Sliceline’s entire premise is absurd: Like Priceline does with travel arrangements, it finds you the best price for a pizza and the quickest means of delivery.&#10;&#10;Sliceline manages to get $8 million in funding, which Duncan casually reveals while Richard is trying to convince the CEO of Optimoji to let him acquire her failing company. She has 30 programmers, and Richard only needs 12, but she’s a stickler for keeping her crew intact. The deal is almost set before Duncan and his big mouth shows up. Optimoji decides to go with Duncan, leaving Richard high and dry." title="Sliceline - Silicon Valley S05E01">
            <a:hlinkClick r:id="rId4"/>
          </p:cNvPr>
          <p:cNvPicPr preferRelativeResize="0"/>
          <p:nvPr/>
        </p:nvPicPr>
        <p:blipFill>
          <a:blip r:embed="rId5">
            <a:alphaModFix/>
          </a:blip>
          <a:stretch>
            <a:fillRect/>
          </a:stretch>
        </p:blipFill>
        <p:spPr>
          <a:xfrm>
            <a:off x="2170800" y="702500"/>
            <a:ext cx="4572000" cy="3429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Team &amp; Roles</a:t>
            </a:r>
            <a:endParaRPr/>
          </a:p>
        </p:txBody>
      </p:sp>
      <p:sp>
        <p:nvSpPr>
          <p:cNvPr id="346" name="Google Shape;346;p35"/>
          <p:cNvSpPr txBox="1">
            <a:spLocks noGrp="1"/>
          </p:cNvSpPr>
          <p:nvPr>
            <p:ph type="body" idx="1"/>
          </p:nvPr>
        </p:nvSpPr>
        <p:spPr>
          <a:xfrm>
            <a:off x="650900" y="1885050"/>
            <a:ext cx="3420300" cy="13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Business &amp; Marketing:</a:t>
            </a:r>
            <a:endParaRPr/>
          </a:p>
          <a:p>
            <a:pPr marL="457200" lvl="0" indent="-311150" algn="l" rtl="0">
              <a:spcBef>
                <a:spcPts val="1600"/>
              </a:spcBef>
              <a:spcAft>
                <a:spcPts val="0"/>
              </a:spcAft>
              <a:buSzPts val="1300"/>
              <a:buChar char="●"/>
            </a:pPr>
            <a:r>
              <a:rPr lang="en"/>
              <a:t>Research competition and advantages</a:t>
            </a:r>
            <a:endParaRPr/>
          </a:p>
          <a:p>
            <a:pPr marL="457200" lvl="0" indent="-311150" algn="l" rtl="0">
              <a:spcBef>
                <a:spcPts val="0"/>
              </a:spcBef>
              <a:spcAft>
                <a:spcPts val="0"/>
              </a:spcAft>
              <a:buSzPts val="1300"/>
              <a:buChar char="●"/>
            </a:pPr>
            <a:r>
              <a:rPr lang="en"/>
              <a:t>Funding</a:t>
            </a:r>
            <a:endParaRPr/>
          </a:p>
          <a:p>
            <a:pPr marL="457200" lvl="0" indent="-311150" algn="l" rtl="0">
              <a:spcBef>
                <a:spcPts val="0"/>
              </a:spcBef>
              <a:spcAft>
                <a:spcPts val="0"/>
              </a:spcAft>
              <a:buSzPts val="1300"/>
              <a:buChar char="●"/>
            </a:pPr>
            <a:r>
              <a:rPr lang="en"/>
              <a:t>Go to market models &amp; strategy</a:t>
            </a:r>
            <a:endParaRPr/>
          </a:p>
        </p:txBody>
      </p:sp>
      <p:sp>
        <p:nvSpPr>
          <p:cNvPr id="347" name="Google Shape;347;p35"/>
          <p:cNvSpPr txBox="1">
            <a:spLocks noGrp="1"/>
          </p:cNvSpPr>
          <p:nvPr>
            <p:ph type="body" idx="1"/>
          </p:nvPr>
        </p:nvSpPr>
        <p:spPr>
          <a:xfrm>
            <a:off x="4668275" y="1307850"/>
            <a:ext cx="3420300" cy="13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Developers:</a:t>
            </a:r>
            <a:endParaRPr/>
          </a:p>
          <a:p>
            <a:pPr marL="457200" lvl="0" indent="-311150" algn="l" rtl="0">
              <a:spcBef>
                <a:spcPts val="1600"/>
              </a:spcBef>
              <a:spcAft>
                <a:spcPts val="0"/>
              </a:spcAft>
              <a:buSzPts val="1300"/>
              <a:buChar char="●"/>
            </a:pPr>
            <a:r>
              <a:rPr lang="en"/>
              <a:t>Follow Milestones</a:t>
            </a:r>
            <a:endParaRPr/>
          </a:p>
          <a:p>
            <a:pPr marL="457200" lvl="0" indent="-311150" algn="l" rtl="0">
              <a:spcBef>
                <a:spcPts val="0"/>
              </a:spcBef>
              <a:spcAft>
                <a:spcPts val="0"/>
              </a:spcAft>
              <a:buSzPts val="1300"/>
              <a:buChar char="●"/>
            </a:pPr>
            <a:r>
              <a:rPr lang="en"/>
              <a:t>Determine Agile techniques to use</a:t>
            </a:r>
            <a:endParaRPr/>
          </a:p>
          <a:p>
            <a:pPr marL="457200" lvl="0" indent="-311150" algn="l" rtl="0">
              <a:spcBef>
                <a:spcPts val="0"/>
              </a:spcBef>
              <a:spcAft>
                <a:spcPts val="0"/>
              </a:spcAft>
              <a:buSzPts val="1300"/>
              <a:buChar char="●"/>
            </a:pPr>
            <a:r>
              <a:rPr lang="en"/>
              <a:t>Develop platform</a:t>
            </a:r>
            <a:endParaRPr/>
          </a:p>
        </p:txBody>
      </p:sp>
      <p:pic>
        <p:nvPicPr>
          <p:cNvPr id="348" name="Google Shape;348;p35"/>
          <p:cNvPicPr preferRelativeResize="0"/>
          <p:nvPr/>
        </p:nvPicPr>
        <p:blipFill>
          <a:blip r:embed="rId3">
            <a:alphaModFix/>
          </a:blip>
          <a:stretch>
            <a:fillRect/>
          </a:stretch>
        </p:blipFill>
        <p:spPr>
          <a:xfrm>
            <a:off x="950113" y="3381450"/>
            <a:ext cx="2821875" cy="1580250"/>
          </a:xfrm>
          <a:prstGeom prst="rect">
            <a:avLst/>
          </a:prstGeom>
          <a:noFill/>
          <a:ln>
            <a:noFill/>
          </a:ln>
        </p:spPr>
      </p:pic>
      <p:pic>
        <p:nvPicPr>
          <p:cNvPr id="349" name="Google Shape;349;p35"/>
          <p:cNvPicPr preferRelativeResize="0"/>
          <p:nvPr/>
        </p:nvPicPr>
        <p:blipFill>
          <a:blip r:embed="rId4">
            <a:alphaModFix/>
          </a:blip>
          <a:stretch>
            <a:fillRect/>
          </a:stretch>
        </p:blipFill>
        <p:spPr>
          <a:xfrm>
            <a:off x="5272950" y="2681250"/>
            <a:ext cx="2210950" cy="2210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6"/>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http://www.youtube.com/watch?v=xbiDrzTd8fE&amp;t=0m51s</a:t>
            </a:r>
            <a:endParaRPr>
              <a:latin typeface="Lato"/>
              <a:ea typeface="Lato"/>
              <a:cs typeface="Lato"/>
              <a:sym typeface="Lato"/>
            </a:endParaRPr>
          </a:p>
        </p:txBody>
      </p:sp>
      <p:pic>
        <p:nvPicPr>
          <p:cNvPr id="355" name="Google Shape;355;p36" descr="&quot;You smell that? What is that?...&quot;&#10;&quot;Your cologne?&quot; &quot;No&quot;&#10;&quot;Opportunity&quot;&#10;&quot;No. Money&quot;&#10;&#10;Danny Moses, Vinny Daniel, Porter Collins, and Mark Baum (based on Steve Eisman) decide to meet with Vennett to listen to his sales pitch: Credit Default Swap on Mortgage Backed Bonds and his illustration of Collateralized Debt Obligations." title="The Big Short (2015) - Jared Vennett's Pitch to Front Point Partners (Jenga Blocks Scene) [HD 1080p]">
            <a:hlinkClick r:id="rId4"/>
          </p:cNvPr>
          <p:cNvPicPr preferRelativeResize="0"/>
          <p:nvPr/>
        </p:nvPicPr>
        <p:blipFill>
          <a:blip r:embed="rId5">
            <a:alphaModFix/>
          </a:blip>
          <a:stretch>
            <a:fillRect/>
          </a:stretch>
        </p:blipFill>
        <p:spPr>
          <a:xfrm>
            <a:off x="2007500" y="567575"/>
            <a:ext cx="4898600" cy="3673950"/>
          </a:xfrm>
          <a:prstGeom prst="rect">
            <a:avLst/>
          </a:prstGeom>
          <a:noFill/>
          <a:ln>
            <a:noFill/>
          </a:ln>
        </p:spPr>
      </p:pic>
      <p:sp>
        <p:nvSpPr>
          <p:cNvPr id="356" name="Google Shape;356;p36"/>
          <p:cNvSpPr txBox="1"/>
          <p:nvPr/>
        </p:nvSpPr>
        <p:spPr>
          <a:xfrm>
            <a:off x="275575" y="2021400"/>
            <a:ext cx="1306500" cy="67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latin typeface="Lato"/>
                <a:ea typeface="Lato"/>
                <a:cs typeface="Lato"/>
                <a:sym typeface="Lato"/>
              </a:rPr>
              <a:t>STOP AT 7:10</a:t>
            </a:r>
            <a:endParaRPr sz="1800" b="1">
              <a:solidFill>
                <a:srgbClr val="FFFFFF"/>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Team &amp; Roles</a:t>
            </a:r>
            <a:endParaRPr/>
          </a:p>
        </p:txBody>
      </p:sp>
      <p:sp>
        <p:nvSpPr>
          <p:cNvPr id="362" name="Google Shape;362;p37"/>
          <p:cNvSpPr txBox="1">
            <a:spLocks noGrp="1"/>
          </p:cNvSpPr>
          <p:nvPr>
            <p:ph type="body" idx="1"/>
          </p:nvPr>
        </p:nvSpPr>
        <p:spPr>
          <a:xfrm>
            <a:off x="636200" y="1605850"/>
            <a:ext cx="6726600" cy="29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Team Roster:</a:t>
            </a:r>
            <a:endParaRPr sz="2000"/>
          </a:p>
          <a:p>
            <a:pPr marL="457200" lvl="0" indent="-355600" algn="l" rtl="0">
              <a:spcBef>
                <a:spcPts val="1600"/>
              </a:spcBef>
              <a:spcAft>
                <a:spcPts val="0"/>
              </a:spcAft>
              <a:buSzPts val="2000"/>
              <a:buChar char="●"/>
            </a:pPr>
            <a:r>
              <a:rPr lang="en" sz="2000"/>
              <a:t>Manseej (add roles)</a:t>
            </a:r>
            <a:endParaRPr sz="2000"/>
          </a:p>
          <a:p>
            <a:pPr marL="457200" lvl="0" indent="-355600" algn="l" rtl="0">
              <a:spcBef>
                <a:spcPts val="0"/>
              </a:spcBef>
              <a:spcAft>
                <a:spcPts val="0"/>
              </a:spcAft>
              <a:buSzPts val="2000"/>
              <a:buChar char="●"/>
            </a:pPr>
            <a:r>
              <a:rPr lang="en" sz="2000"/>
              <a:t>Abhinav (add roles)</a:t>
            </a:r>
            <a:endParaRPr sz="2000"/>
          </a:p>
          <a:p>
            <a:pPr marL="457200" lvl="0" indent="-355600" algn="l" rtl="0">
              <a:spcBef>
                <a:spcPts val="0"/>
              </a:spcBef>
              <a:spcAft>
                <a:spcPts val="0"/>
              </a:spcAft>
              <a:buSzPts val="2000"/>
              <a:buChar char="●"/>
            </a:pPr>
            <a:r>
              <a:rPr lang="en" sz="2000"/>
              <a:t>Max (Market &amp; Developer)</a:t>
            </a:r>
            <a:endParaRPr sz="2000"/>
          </a:p>
          <a:p>
            <a:pPr marL="0" lvl="0" indent="0" algn="l" rtl="0">
              <a:spcBef>
                <a:spcPts val="1600"/>
              </a:spcBef>
              <a:spcAft>
                <a:spcPts val="16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Roadmap</a:t>
            </a:r>
            <a:endParaRPr/>
          </a:p>
        </p:txBody>
      </p:sp>
      <p:sp>
        <p:nvSpPr>
          <p:cNvPr id="368" name="Google Shape;368;p38"/>
          <p:cNvSpPr txBox="1">
            <a:spLocks noGrp="1"/>
          </p:cNvSpPr>
          <p:nvPr>
            <p:ph type="body" idx="1"/>
          </p:nvPr>
        </p:nvSpPr>
        <p:spPr>
          <a:xfrm>
            <a:off x="1297500" y="1567550"/>
            <a:ext cx="5316000" cy="2078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3600"/>
              <a:t>TBD - ADD DATES TO THE TIMELINE</a:t>
            </a:r>
            <a:endParaRPr sz="3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DevOps</a:t>
            </a:r>
            <a:endParaRPr/>
          </a:p>
        </p:txBody>
      </p:sp>
      <p:sp>
        <p:nvSpPr>
          <p:cNvPr id="374" name="Google Shape;374;p3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Agile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TODO</a:t>
            </a:r>
            <a:endParaRPr/>
          </a:p>
        </p:txBody>
      </p:sp>
      <p:sp>
        <p:nvSpPr>
          <p:cNvPr id="380" name="Google Shape;380;p4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sz="1800"/>
              <a:t>Market Research</a:t>
            </a:r>
            <a:endParaRPr sz="1800"/>
          </a:p>
          <a:p>
            <a:pPr marL="914400" lvl="1" indent="-342900" algn="l" rtl="0">
              <a:spcBef>
                <a:spcPts val="0"/>
              </a:spcBef>
              <a:spcAft>
                <a:spcPts val="0"/>
              </a:spcAft>
              <a:buSzPts val="1800"/>
              <a:buAutoNum type="alphaLcPeriod"/>
            </a:pPr>
            <a:r>
              <a:rPr lang="en" sz="1800"/>
              <a:t>Ask people the 4 big questions</a:t>
            </a:r>
            <a:endParaRPr sz="1800"/>
          </a:p>
          <a:p>
            <a:pPr marL="914400" lvl="1" indent="-342900" algn="l" rtl="0">
              <a:spcBef>
                <a:spcPts val="0"/>
              </a:spcBef>
              <a:spcAft>
                <a:spcPts val="0"/>
              </a:spcAft>
              <a:buSzPts val="1800"/>
              <a:buAutoNum type="alphaLcPeriod"/>
            </a:pPr>
            <a:r>
              <a:rPr lang="en" sz="1800"/>
              <a:t>Launch x story</a:t>
            </a:r>
            <a:endParaRPr sz="1800"/>
          </a:p>
          <a:p>
            <a:pPr marL="457200" lvl="0" indent="-342900" algn="l" rtl="0">
              <a:spcBef>
                <a:spcPts val="0"/>
              </a:spcBef>
              <a:spcAft>
                <a:spcPts val="0"/>
              </a:spcAft>
              <a:buSzPts val="1800"/>
              <a:buAutoNum type="arabicPeriod"/>
            </a:pPr>
            <a:r>
              <a:rPr lang="en" sz="1800"/>
              <a:t>Construct the App</a:t>
            </a:r>
            <a:endParaRPr sz="1800"/>
          </a:p>
          <a:p>
            <a:pPr marL="457200" lvl="0" indent="-342900" algn="l" rtl="0">
              <a:spcBef>
                <a:spcPts val="0"/>
              </a:spcBef>
              <a:spcAft>
                <a:spcPts val="0"/>
              </a:spcAft>
              <a:buSzPts val="1800"/>
              <a:buAutoNum type="arabicPeriod"/>
            </a:pPr>
            <a:r>
              <a:rPr lang="en" sz="1800"/>
              <a:t>Construct the supporting website</a:t>
            </a:r>
            <a:endParaRPr sz="1800"/>
          </a:p>
          <a:p>
            <a:pPr marL="457200" lvl="0" indent="-342900" algn="l" rtl="0">
              <a:spcBef>
                <a:spcPts val="0"/>
              </a:spcBef>
              <a:spcAft>
                <a:spcPts val="0"/>
              </a:spcAft>
              <a:buSzPts val="1800"/>
              <a:buAutoNum type="arabicPeriod"/>
            </a:pPr>
            <a:r>
              <a:rPr lang="en" sz="1800"/>
              <a:t>Push to market </a:t>
            </a:r>
            <a:r>
              <a:rPr lang="en" sz="1800" i="1" u="sng"/>
              <a:t>strategically</a:t>
            </a:r>
            <a:endParaRPr sz="1800" i="1" u="sng"/>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p41" descr="OR DO WE?" title="Silicon Valley - Erlich Bachman &amp; George Washington">
            <a:hlinkClick r:id="rId3"/>
          </p:cNvPr>
          <p:cNvPicPr preferRelativeResize="0"/>
          <p:nvPr/>
        </p:nvPicPr>
        <p:blipFill>
          <a:blip r:embed="rId4">
            <a:alphaModFix/>
          </a:blip>
          <a:stretch>
            <a:fillRect/>
          </a:stretch>
        </p:blipFill>
        <p:spPr>
          <a:xfrm>
            <a:off x="2170800" y="557050"/>
            <a:ext cx="4572000" cy="3429000"/>
          </a:xfrm>
          <a:prstGeom prst="rect">
            <a:avLst/>
          </a:prstGeom>
          <a:noFill/>
          <a:ln>
            <a:noFill/>
          </a:ln>
        </p:spPr>
      </p:pic>
      <p:sp>
        <p:nvSpPr>
          <p:cNvPr id="386" name="Google Shape;386;p41"/>
          <p:cNvSpPr txBox="1"/>
          <p:nvPr/>
        </p:nvSpPr>
        <p:spPr>
          <a:xfrm>
            <a:off x="2808900" y="4363450"/>
            <a:ext cx="32958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5"/>
              </a:rPr>
              <a:t>https://www.youtube.com/watch?v=DnNnzZ6Ta2c</a:t>
            </a:r>
            <a:endParaRPr>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Funding Requirements</a:t>
            </a:r>
            <a:endParaRPr/>
          </a:p>
        </p:txBody>
      </p:sp>
      <p:sp>
        <p:nvSpPr>
          <p:cNvPr id="392" name="Google Shape;392;p4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t>Startup capital for infrastructure</a:t>
            </a:r>
            <a:endParaRPr sz="1800"/>
          </a:p>
          <a:p>
            <a:pPr marL="914400" lvl="1" indent="-342900" algn="l" rtl="0">
              <a:spcBef>
                <a:spcPts val="0"/>
              </a:spcBef>
              <a:spcAft>
                <a:spcPts val="0"/>
              </a:spcAft>
              <a:buSzPts val="1800"/>
              <a:buChar char="○"/>
            </a:pPr>
            <a:r>
              <a:rPr lang="en" sz="1800"/>
              <a:t>Servers</a:t>
            </a:r>
            <a:endParaRPr sz="1800"/>
          </a:p>
          <a:p>
            <a:pPr marL="457200" lvl="0" indent="-342900" algn="l" rtl="0">
              <a:spcBef>
                <a:spcPts val="0"/>
              </a:spcBef>
              <a:spcAft>
                <a:spcPts val="0"/>
              </a:spcAft>
              <a:buSzPts val="1800"/>
              <a:buChar char="●"/>
            </a:pPr>
            <a:r>
              <a:rPr lang="en" sz="1800"/>
              <a:t>Sponsors </a:t>
            </a:r>
            <a:endParaRPr sz="1800"/>
          </a:p>
        </p:txBody>
      </p:sp>
      <p:pic>
        <p:nvPicPr>
          <p:cNvPr id="393" name="Google Shape;393;p42"/>
          <p:cNvPicPr preferRelativeResize="0"/>
          <p:nvPr/>
        </p:nvPicPr>
        <p:blipFill>
          <a:blip r:embed="rId3">
            <a:alphaModFix/>
          </a:blip>
          <a:stretch>
            <a:fillRect/>
          </a:stretch>
        </p:blipFill>
        <p:spPr>
          <a:xfrm>
            <a:off x="6216650" y="2704725"/>
            <a:ext cx="2792475" cy="22563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3"/>
          <p:cNvSpPr txBox="1"/>
          <p:nvPr/>
        </p:nvSpPr>
        <p:spPr>
          <a:xfrm>
            <a:off x="2765250" y="4378125"/>
            <a:ext cx="36135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https://www.youtube.com/watch?v=mVWid90Wwxs</a:t>
            </a:r>
            <a:endParaRPr>
              <a:latin typeface="Lato"/>
              <a:ea typeface="Lato"/>
              <a:cs typeface="Lato"/>
              <a:sym typeface="Lato"/>
            </a:endParaRPr>
          </a:p>
        </p:txBody>
      </p:sp>
      <p:pic>
        <p:nvPicPr>
          <p:cNvPr id="399" name="Google Shape;399;p43" descr="A scene from Season 3, Episode 10 of the TV show Silicon Valley." title="How Erlich Bachman Saved Pied Piper. [Silicon Valley S3E10]">
            <a:hlinkClick r:id="rId4"/>
          </p:cNvPr>
          <p:cNvPicPr preferRelativeResize="0"/>
          <p:nvPr/>
        </p:nvPicPr>
        <p:blipFill>
          <a:blip r:embed="rId5">
            <a:alphaModFix/>
          </a:blip>
          <a:stretch>
            <a:fillRect/>
          </a:stretch>
        </p:blipFill>
        <p:spPr>
          <a:xfrm>
            <a:off x="1956175" y="454375"/>
            <a:ext cx="5231650" cy="3923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Profit Margins</a:t>
            </a:r>
            <a:endParaRPr/>
          </a:p>
        </p:txBody>
      </p:sp>
      <p:sp>
        <p:nvSpPr>
          <p:cNvPr id="405" name="Google Shape;405;p44"/>
          <p:cNvSpPr txBox="1">
            <a:spLocks noGrp="1"/>
          </p:cNvSpPr>
          <p:nvPr>
            <p:ph type="body" idx="1"/>
          </p:nvPr>
        </p:nvSpPr>
        <p:spPr>
          <a:xfrm>
            <a:off x="1297500" y="1567550"/>
            <a:ext cx="4316700" cy="118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Compare our model to similar apps on the market</a:t>
            </a:r>
            <a:endParaRPr/>
          </a:p>
          <a:p>
            <a:pPr marL="0" lvl="0" indent="0" algn="l" rtl="0">
              <a:spcBef>
                <a:spcPts val="1600"/>
              </a:spcBef>
              <a:spcAft>
                <a:spcPts val="1600"/>
              </a:spcAft>
              <a:buNone/>
            </a:pPr>
            <a:r>
              <a:rPr lang="en"/>
              <a:t>How do we compare?</a:t>
            </a:r>
            <a:endParaRPr/>
          </a:p>
        </p:txBody>
      </p:sp>
      <p:sp>
        <p:nvSpPr>
          <p:cNvPr id="406" name="Google Shape;406;p44"/>
          <p:cNvSpPr txBox="1">
            <a:spLocks noGrp="1"/>
          </p:cNvSpPr>
          <p:nvPr>
            <p:ph type="body" idx="1"/>
          </p:nvPr>
        </p:nvSpPr>
        <p:spPr>
          <a:xfrm>
            <a:off x="6053100" y="2293100"/>
            <a:ext cx="2283300" cy="1071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3600"/>
              <a:t>TBD</a:t>
            </a:r>
            <a:endParaRPr sz="36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5"/>
          <p:cNvSpPr txBox="1"/>
          <p:nvPr/>
        </p:nvSpPr>
        <p:spPr>
          <a:xfrm>
            <a:off x="2765250" y="4378125"/>
            <a:ext cx="3613500" cy="3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http://www.youtube.com/watch?v=ZDYGogxH3hw&amp;t=3m45s</a:t>
            </a:r>
            <a:endParaRPr>
              <a:latin typeface="Lato"/>
              <a:ea typeface="Lato"/>
              <a:cs typeface="Lato"/>
              <a:sym typeface="Lato"/>
            </a:endParaRPr>
          </a:p>
        </p:txBody>
      </p:sp>
      <p:pic>
        <p:nvPicPr>
          <p:cNvPr id="412" name="Google Shape;412;p45" descr="Check out these books about Steve Jobs: &#10;* Steve Jobs: https://amzn.to/2PGH3nM&#10;* The Presentation Secrets of Steve Jobs: https://amzn.to/2JB1j55&#10;* Becoming Steve Jobs: https://amzn.to/2QgZKf8&#10;* Steve Jobs: The Man Who Thought Differently: https://amzn.to/2AHIqdQ&#10;* Steve Jobs (Movie): https://amzn.to/2CZgLq3&#10;&#10;✎ Steve Jobs's Top 10 Rules for Success: In this video we're going to learn how to improve our lives by analyzing our take on Steve Jobs' rules for success.&#10;&#10;❤ HELP TRANSLATE THIS VIDEO ❤&#10;If you loved this video, help people in other countries enjoy it too by making captions for it. Spread the love and impact. &#10;http://www.youtube.com/timedtext_video?v=ZDYGogxH3hw&amp;ref=share&#10;&#10;★ MORE RECOMMENDED VIDEOS FOR YOU ★&#10;If you enjoyed this video, you may enjoy these other videos from Evan Carmichael:&#10;• Steve Wozniak's Top 10 Rules for Success - https://youtu.be/GrABOzlvJxo&#10;• Bill Gates's Top 10 Rules For Success - https://youtu.be/wq-gba5nMrc&#10;• Tim Cook's Top 10 Rules For Success - https://youtu.be/Ak5XrbDidTE&#10;&#10;✎ He was an American businessman, inventor, and industrial designer. He was the co-founder, chairman, and chief executive officer (CEO) of Apple Inc. He widely recognized as a pioneer of the microcomputer revolution of the 1970s and 1980s. He's Steve Jobs and here is my take on his Top 10 Rules for Success Volume 2!&#10;&#10;-= STEVE'S RULES =-&#10;1. Be willing to fail &#10;2. Be the thinker and doer&#10;3. Question everything&#10;4. Focus&#10;5. Reiterate the vision&#10;6. Make great products&#10;7. Persevere&#10;8. Act now!&#10;9. Be a great storyteller&#10;10. Get A players&#10;-= BONUS =-&#10;* Think about the future&#10;* Know your market&#10;* Be a rebel&#10;&#10;✎ He was adopted at birth in San Francisco, and raised in the San Francisco Bay Area during the 1960s. He briefly attended Reed College before dropping out and deciding to travel through India to seek enlightenment and study Zen Buddhism. He co-founded Apple in 1976 to sell Wozniak's Apple I personal computer. The duo gained fame and wealth a year later for the Apple II, one of the first highly successful mass-produced personal computers. After leaving Apple, Jobs took a few of its members with him to found NeXT. In 1997, Apple acquired and merged NeXT, allowing Jobs to become CEO once again, reviving the company at the verge of bankruptcy.&#10;&#10;✎ Jobs worked closely with designer Jonathan Ive to develop a line of products that would have larger cultural ramifications. Jobs helped to initiate the development of the visual effects industry when he funded the spinout of the computer graphics division of Lucasfilm in 1986. Pixar would eventually produce the first fully computer-animated film, Toy Story—an event made possible in part because of Jobs's financial support. He was diagnosed with a pancreatic neuroendocrine tumor, and died on October 5, 2011.&#10;&#10;❞ THIS VIDEO REQUESTED BY ❞&#10;Karlvin Edeza: &quot;Volume 2 of Steve Jobs ^_^&quot;&#10;&#10;✔ SOURCES ✔&#10;[Silicon Valley Historical Association] - &quot;You've got to be willing to fail&quot; - https://youtu.be/cfcHQA175g8&#10;[prettymanjane] - Rare Steve Jobs 1990 Interview - https://youtu.be/Kj_48pHuXWo&#10;[BrEacK] - The Lost Interview - https://youtu.be/TRZAJY23xio&#10;[stevenote] - Steve Jobs - Courage - https://youtu.be/65_PmYipnpk&#10;[Arjun Agarwal] - The Steve Jobs 95 Interview - https://youtu.be/M6Oxl5dAnR0&#10;[Silicon Valley Historical Association] - You have NOTHING to Lose - https://youtu.be/QaTl1k7M9G0&#10;[Ashish Pandey] - Steve Jobs and Bill Gates Face Off - https://youtu.be/Sw8x7ASpRIY&#10;[EverySteveJobsVideo]&#10;Interview on Japanese Public TV - https://youtu.be/GuB-d7jRkCw&#10;Steve Jobs brainstorms with the NeXT team - https://youtu.be/BNeXlJW70KQ&#10;[Joni Mälkki] - Steve Jobs in Sweden - https://youtu.be/2qLuerYx2IA&#10;&#10;♛ BUY MY BOOK, CHANGE YOUR LIFE  ♛&#10;Some used the ideas in this book to build multi-billion-dollar businesses. I'll give you the simple-yet-powerful formula that they used (and you can) to realize your dreams. Get yours.&#10;http://www.evancarmichael.com/oneword/&#10;&#10;ツ  CONNECT WITH ME  ツ&#10;Leave a comment on this video and it'll get a response. Or you can connect with me on different social platforms too:&#10;• Instagram: https://www.instagram.com/evancarmichael/&#10;• Twitter: https://twitter.com/evancarmichael&#10;• Facebook: https://www.facebook.com/EvanCarmichaelcom&#10;• Website: http://www.evancarmichael.com &#10;&#10;.: MORE ABOUT ME PERSONALLY :.&#10;• About: http://www.evancarmichael.com/about/&#10;• Coaching: http://www.evancarmichael.com/movement/&#10;• Speaking: http://www.evancarmichael.com/speaking/&#10;&#10;-----------------------------------------------------------------------------&#10;&#10;Thank you for watching - I really appreciate it :)&#10;Cheers,&#10;Evan&#10;#Believe" title="Steve Jobs' Top 10 Rules For Success - Volume 2">
            <a:hlinkClick r:id="rId4"/>
          </p:cNvPr>
          <p:cNvPicPr preferRelativeResize="0"/>
          <p:nvPr/>
        </p:nvPicPr>
        <p:blipFill>
          <a:blip r:embed="rId5">
            <a:alphaModFix/>
          </a:blip>
          <a:stretch>
            <a:fillRect/>
          </a:stretch>
        </p:blipFill>
        <p:spPr>
          <a:xfrm>
            <a:off x="2145938" y="519950"/>
            <a:ext cx="4852126" cy="3639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STORAGE SLIDE</a:t>
            </a:r>
            <a:endParaRPr/>
          </a:p>
          <a:p>
            <a:pPr marL="0" lvl="0" indent="0" algn="l" rtl="0">
              <a:spcBef>
                <a:spcPts val="0"/>
              </a:spcBef>
              <a:spcAft>
                <a:spcPts val="0"/>
              </a:spcAft>
              <a:buNone/>
            </a:pPr>
            <a:endParaRPr/>
          </a:p>
        </p:txBody>
      </p:sp>
      <p:sp>
        <p:nvSpPr>
          <p:cNvPr id="418" name="Google Shape;418;p4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837</Words>
  <Application>Microsoft Office PowerPoint</Application>
  <PresentationFormat>On-screen Show (16:9)</PresentationFormat>
  <Paragraphs>183</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Montserrat</vt:lpstr>
      <vt:lpstr>Lato</vt:lpstr>
      <vt:lpstr>Arial</vt:lpstr>
      <vt:lpstr>Focus</vt:lpstr>
      <vt:lpstr>Social Media Platform</vt:lpstr>
      <vt:lpstr>The Common Model</vt:lpstr>
      <vt:lpstr>Product facing directions</vt:lpstr>
      <vt:lpstr>The Current Situation</vt:lpstr>
      <vt:lpstr>Identified Problems / Solutions - Part 1</vt:lpstr>
      <vt:lpstr>Problem solution continued</vt:lpstr>
      <vt:lpstr>The Google Philosophy </vt:lpstr>
      <vt:lpstr>Demo</vt:lpstr>
      <vt:lpstr>Benefits</vt:lpstr>
      <vt:lpstr>Milestones</vt:lpstr>
      <vt:lpstr>The Market</vt:lpstr>
      <vt:lpstr>PowerPoint Presentation</vt:lpstr>
      <vt:lpstr>Current Situation</vt:lpstr>
      <vt:lpstr>PowerPoint Presentation</vt:lpstr>
      <vt:lpstr>Business Model</vt:lpstr>
      <vt:lpstr>PowerPoint Presentation</vt:lpstr>
      <vt:lpstr>Marketing Strategy</vt:lpstr>
      <vt:lpstr>PowerPoint Presentation</vt:lpstr>
      <vt:lpstr>Competitor Landscape</vt:lpstr>
      <vt:lpstr>PowerPoint Presentation</vt:lpstr>
      <vt:lpstr>Projects Maxims (ISEC)</vt:lpstr>
      <vt:lpstr>PowerPoint Presentation</vt:lpstr>
      <vt:lpstr>Team &amp; Roles</vt:lpstr>
      <vt:lpstr>PowerPoint Presentation</vt:lpstr>
      <vt:lpstr>Team &amp; Roles</vt:lpstr>
      <vt:lpstr>Roadmap</vt:lpstr>
      <vt:lpstr>DevOps</vt:lpstr>
      <vt:lpstr>TODO</vt:lpstr>
      <vt:lpstr>PowerPoint Presentation</vt:lpstr>
      <vt:lpstr>Funding Requirements</vt:lpstr>
      <vt:lpstr>PowerPoint Presentation</vt:lpstr>
      <vt:lpstr>Profit Margins</vt:lpstr>
      <vt:lpstr>PowerPoint Presentation</vt:lpstr>
      <vt:lpstr>STORAGE SLIDE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Platform</dc:title>
  <cp:lastModifiedBy>Novak, Maximus</cp:lastModifiedBy>
  <cp:revision>1</cp:revision>
  <dcterms:modified xsi:type="dcterms:W3CDTF">2019-06-24T15:44:29Z</dcterms:modified>
</cp:coreProperties>
</file>