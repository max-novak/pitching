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Montserrat"/>
      <p:regular r:id="rId41"/>
      <p:bold r:id="rId42"/>
      <p:italic r:id="rId43"/>
      <p:boldItalic r:id="rId44"/>
    </p:embeddedFont>
    <p:embeddedFont>
      <p:font typeface="Lat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Author clrIdx="0" id="0" initials="" lastIdx="9" name="Max Nov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Montserrat-bold.fntdata"/><Relationship Id="rId41" Type="http://schemas.openxmlformats.org/officeDocument/2006/relationships/font" Target="fonts/Montserrat-regular.fntdata"/><Relationship Id="rId22" Type="http://schemas.openxmlformats.org/officeDocument/2006/relationships/slide" Target="slides/slide16.xml"/><Relationship Id="rId44" Type="http://schemas.openxmlformats.org/officeDocument/2006/relationships/font" Target="fonts/Montserrat-boldItalic.fntdata"/><Relationship Id="rId21" Type="http://schemas.openxmlformats.org/officeDocument/2006/relationships/slide" Target="slides/slide15.xml"/><Relationship Id="rId43" Type="http://schemas.openxmlformats.org/officeDocument/2006/relationships/font" Target="fonts/Montserrat-italic.fntdata"/><Relationship Id="rId24" Type="http://schemas.openxmlformats.org/officeDocument/2006/relationships/slide" Target="slides/slide18.xml"/><Relationship Id="rId46" Type="http://schemas.openxmlformats.org/officeDocument/2006/relationships/font" Target="fonts/Lato-bold.fntdata"/><Relationship Id="rId23" Type="http://schemas.openxmlformats.org/officeDocument/2006/relationships/slide" Target="slides/slide17.xml"/><Relationship Id="rId45"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Lato-boldItalic.fntdata"/><Relationship Id="rId25" Type="http://schemas.openxmlformats.org/officeDocument/2006/relationships/slide" Target="slides/slide19.xml"/><Relationship Id="rId47" Type="http://schemas.openxmlformats.org/officeDocument/2006/relationships/font" Target="fonts/Lato-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 authorId="0" idx="1" dt="2019-06-20T18:22:58.503">
    <p:pos x="6000" y="0"/>
    <p:text>alliteration and onomatopoeia</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 authorId="0" idx="2" dt="2019-06-20T18:12:06.605">
    <p:pos x="6000" y="0"/>
    <p:text>problems and solutions</p:text>
  </p:cm>
  <p:cm authorId="0" idx="3" dt="2019-06-19T22:29:35.703">
    <p:pos x="6000" y="0"/>
    <p:text>the most common answer when I interviewed people on why they enjoy school the answer was: friends</p:text>
  </p:cm>
  <p:cm authorId="0" idx="4" dt="2019-06-19T22:34:11.556">
    <p:pos x="6000" y="0"/>
    <p:text>todo</p:text>
  </p:cm>
  <p:cm authorId="0" idx="5" dt="2019-06-19T23:02:18.112">
    <p:pos x="6000" y="0"/>
    <p:text>research NICHE and school rating apps, can we steal or stay away?</p:text>
  </p:cm>
  <p:cm authorId="0" idx="6" dt="2019-06-19T23:20:55.170">
    <p:pos x="6000" y="0"/>
    <p:text>add TONS OF GAMIFICATION
KHAN ACADEMY
STACK OVERFLOW
DISCOUNT CARDS FROM SHOPS</p:text>
  </p:cm>
  <p:cm authorId="0" idx="7" dt="2019-06-20T16:25:07.199">
    <p:pos x="6000" y="0"/>
    <p:text>video series such they are slow --&gt; khan is bad --&gt; imagine a khan academy of cheatsheets</p:text>
  </p:cm>
  <p:cm authorId="0" idx="8" dt="2019-06-20T18:12:06.605">
    <p:pos x="6000" y="0"/>
    <p:text>Focus on the most important capabilites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 authorId="0" idx="9" dt="2019-06-19T03:10:36.901">
    <p:pos x="6000" y="0"/>
    <p:text>hackathons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g5bf66c886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5bf66c886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0" name="Shape 150"/>
        <p:cNvGrpSpPr/>
        <p:nvPr/>
      </p:nvGrpSpPr>
      <p:grpSpPr>
        <a:xfrm>
          <a:off x="0" y="0"/>
          <a:ext cx="0" cy="0"/>
          <a:chOff x="0" y="0"/>
          <a:chExt cx="0" cy="0"/>
        </a:xfrm>
      </p:grpSpPr>
      <p:sp>
        <p:nvSpPr>
          <p:cNvPr id="151" name="Google Shape;151;g5bf66c88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5bf66c88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1" name="Shape 171"/>
        <p:cNvGrpSpPr/>
        <p:nvPr/>
      </p:nvGrpSpPr>
      <p:grpSpPr>
        <a:xfrm>
          <a:off x="0" y="0"/>
          <a:ext cx="0" cy="0"/>
          <a:chOff x="0" y="0"/>
          <a:chExt cx="0" cy="0"/>
        </a:xfrm>
      </p:grpSpPr>
      <p:sp>
        <p:nvSpPr>
          <p:cNvPr id="172" name="Google Shape;172;g5bf66c886a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5bf66c886a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8" name="Shape 178"/>
        <p:cNvGrpSpPr/>
        <p:nvPr/>
      </p:nvGrpSpPr>
      <p:grpSpPr>
        <a:xfrm>
          <a:off x="0" y="0"/>
          <a:ext cx="0" cy="0"/>
          <a:chOff x="0" y="0"/>
          <a:chExt cx="0" cy="0"/>
        </a:xfrm>
      </p:grpSpPr>
      <p:sp>
        <p:nvSpPr>
          <p:cNvPr id="179" name="Google Shape;179;g5bf66c886a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5bf66c886a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5" name="Shape 185"/>
        <p:cNvGrpSpPr/>
        <p:nvPr/>
      </p:nvGrpSpPr>
      <p:grpSpPr>
        <a:xfrm>
          <a:off x="0" y="0"/>
          <a:ext cx="0" cy="0"/>
          <a:chOff x="0" y="0"/>
          <a:chExt cx="0" cy="0"/>
        </a:xfrm>
      </p:grpSpPr>
      <p:sp>
        <p:nvSpPr>
          <p:cNvPr id="186" name="Google Shape;186;g5c0896f4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5c0896f4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1" name="Shape 191"/>
        <p:cNvGrpSpPr/>
        <p:nvPr/>
      </p:nvGrpSpPr>
      <p:grpSpPr>
        <a:xfrm>
          <a:off x="0" y="0"/>
          <a:ext cx="0" cy="0"/>
          <a:chOff x="0" y="0"/>
          <a:chExt cx="0" cy="0"/>
        </a:xfrm>
      </p:grpSpPr>
      <p:sp>
        <p:nvSpPr>
          <p:cNvPr id="192" name="Google Shape;192;g6acc29586329226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6acc29586329226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8" name="Shape 198"/>
        <p:cNvGrpSpPr/>
        <p:nvPr/>
      </p:nvGrpSpPr>
      <p:grpSpPr>
        <a:xfrm>
          <a:off x="0" y="0"/>
          <a:ext cx="0" cy="0"/>
          <a:chOff x="0" y="0"/>
          <a:chExt cx="0" cy="0"/>
        </a:xfrm>
      </p:grpSpPr>
      <p:sp>
        <p:nvSpPr>
          <p:cNvPr id="199" name="Google Shape;199;g5c0896f42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5c0896f42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4" name="Shape 204"/>
        <p:cNvGrpSpPr/>
        <p:nvPr/>
      </p:nvGrpSpPr>
      <p:grpSpPr>
        <a:xfrm>
          <a:off x="0" y="0"/>
          <a:ext cx="0" cy="0"/>
          <a:chOff x="0" y="0"/>
          <a:chExt cx="0" cy="0"/>
        </a:xfrm>
      </p:grpSpPr>
      <p:sp>
        <p:nvSpPr>
          <p:cNvPr id="205" name="Google Shape;205;g5c0896f42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5c0896f42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2" name="Shape 212"/>
        <p:cNvGrpSpPr/>
        <p:nvPr/>
      </p:nvGrpSpPr>
      <p:grpSpPr>
        <a:xfrm>
          <a:off x="0" y="0"/>
          <a:ext cx="0" cy="0"/>
          <a:chOff x="0" y="0"/>
          <a:chExt cx="0" cy="0"/>
        </a:xfrm>
      </p:grpSpPr>
      <p:sp>
        <p:nvSpPr>
          <p:cNvPr id="213" name="Google Shape;213;g5c0896f42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5c0896f42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6" name="Shape 256"/>
        <p:cNvGrpSpPr/>
        <p:nvPr/>
      </p:nvGrpSpPr>
      <p:grpSpPr>
        <a:xfrm>
          <a:off x="0" y="0"/>
          <a:ext cx="0" cy="0"/>
          <a:chOff x="0" y="0"/>
          <a:chExt cx="0" cy="0"/>
        </a:xfrm>
      </p:grpSpPr>
      <p:sp>
        <p:nvSpPr>
          <p:cNvPr id="257" name="Google Shape;257;g5b8696c422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5b8696c422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Google Shape;264;g5b8696c422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5b8696c422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9" name="Shape 269"/>
        <p:cNvGrpSpPr/>
        <p:nvPr/>
      </p:nvGrpSpPr>
      <p:grpSpPr>
        <a:xfrm>
          <a:off x="0" y="0"/>
          <a:ext cx="0" cy="0"/>
          <a:chOff x="0" y="0"/>
          <a:chExt cx="0" cy="0"/>
        </a:xfrm>
      </p:grpSpPr>
      <p:sp>
        <p:nvSpPr>
          <p:cNvPr id="270" name="Google Shape;270;g5b8696c422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5b8696c422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6" name="Shape 276"/>
        <p:cNvGrpSpPr/>
        <p:nvPr/>
      </p:nvGrpSpPr>
      <p:grpSpPr>
        <a:xfrm>
          <a:off x="0" y="0"/>
          <a:ext cx="0" cy="0"/>
          <a:chOff x="0" y="0"/>
          <a:chExt cx="0" cy="0"/>
        </a:xfrm>
      </p:grpSpPr>
      <p:sp>
        <p:nvSpPr>
          <p:cNvPr id="277" name="Google Shape;277;g5b8696c422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5b8696c422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3" name="Shape 283"/>
        <p:cNvGrpSpPr/>
        <p:nvPr/>
      </p:nvGrpSpPr>
      <p:grpSpPr>
        <a:xfrm>
          <a:off x="0" y="0"/>
          <a:ext cx="0" cy="0"/>
          <a:chOff x="0" y="0"/>
          <a:chExt cx="0" cy="0"/>
        </a:xfrm>
      </p:grpSpPr>
      <p:sp>
        <p:nvSpPr>
          <p:cNvPr id="284" name="Google Shape;284;g5b8696c422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5b8696c422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0" name="Shape 290"/>
        <p:cNvGrpSpPr/>
        <p:nvPr/>
      </p:nvGrpSpPr>
      <p:grpSpPr>
        <a:xfrm>
          <a:off x="0" y="0"/>
          <a:ext cx="0" cy="0"/>
          <a:chOff x="0" y="0"/>
          <a:chExt cx="0" cy="0"/>
        </a:xfrm>
      </p:grpSpPr>
      <p:sp>
        <p:nvSpPr>
          <p:cNvPr id="291" name="Google Shape;291;g5b8696c422_1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5b8696c422_1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6" name="Shape 296"/>
        <p:cNvGrpSpPr/>
        <p:nvPr/>
      </p:nvGrpSpPr>
      <p:grpSpPr>
        <a:xfrm>
          <a:off x="0" y="0"/>
          <a:ext cx="0" cy="0"/>
          <a:chOff x="0" y="0"/>
          <a:chExt cx="0" cy="0"/>
        </a:xfrm>
      </p:grpSpPr>
      <p:sp>
        <p:nvSpPr>
          <p:cNvPr id="297" name="Google Shape;297;g5b8696c422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5b8696c422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3" name="Shape 303"/>
        <p:cNvGrpSpPr/>
        <p:nvPr/>
      </p:nvGrpSpPr>
      <p:grpSpPr>
        <a:xfrm>
          <a:off x="0" y="0"/>
          <a:ext cx="0" cy="0"/>
          <a:chOff x="0" y="0"/>
          <a:chExt cx="0" cy="0"/>
        </a:xfrm>
      </p:grpSpPr>
      <p:sp>
        <p:nvSpPr>
          <p:cNvPr id="304" name="Google Shape;304;g5b8696c422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5b8696c422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9" name="Shape 309"/>
        <p:cNvGrpSpPr/>
        <p:nvPr/>
      </p:nvGrpSpPr>
      <p:grpSpPr>
        <a:xfrm>
          <a:off x="0" y="0"/>
          <a:ext cx="0" cy="0"/>
          <a:chOff x="0" y="0"/>
          <a:chExt cx="0" cy="0"/>
        </a:xfrm>
      </p:grpSpPr>
      <p:sp>
        <p:nvSpPr>
          <p:cNvPr id="310" name="Google Shape;310;g5bf66c886a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5bf66c886a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7" name="Shape 317"/>
        <p:cNvGrpSpPr/>
        <p:nvPr/>
      </p:nvGrpSpPr>
      <p:grpSpPr>
        <a:xfrm>
          <a:off x="0" y="0"/>
          <a:ext cx="0" cy="0"/>
          <a:chOff x="0" y="0"/>
          <a:chExt cx="0" cy="0"/>
        </a:xfrm>
      </p:grpSpPr>
      <p:sp>
        <p:nvSpPr>
          <p:cNvPr id="318" name="Google Shape;318;g5b8696c422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5b8696c422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3" name="Shape 323"/>
        <p:cNvGrpSpPr/>
        <p:nvPr/>
      </p:nvGrpSpPr>
      <p:grpSpPr>
        <a:xfrm>
          <a:off x="0" y="0"/>
          <a:ext cx="0" cy="0"/>
          <a:chOff x="0" y="0"/>
          <a:chExt cx="0" cy="0"/>
        </a:xfrm>
      </p:grpSpPr>
      <p:sp>
        <p:nvSpPr>
          <p:cNvPr id="324" name="Google Shape;324;g5bf66c886a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5bf66c886a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5" name="Shape 335"/>
        <p:cNvGrpSpPr/>
        <p:nvPr/>
      </p:nvGrpSpPr>
      <p:grpSpPr>
        <a:xfrm>
          <a:off x="0" y="0"/>
          <a:ext cx="0" cy="0"/>
          <a:chOff x="0" y="0"/>
          <a:chExt cx="0" cy="0"/>
        </a:xfrm>
      </p:grpSpPr>
      <p:sp>
        <p:nvSpPr>
          <p:cNvPr id="336" name="Google Shape;336;g5b8696c422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5b8696c422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1" name="Shape 341"/>
        <p:cNvGrpSpPr/>
        <p:nvPr/>
      </p:nvGrpSpPr>
      <p:grpSpPr>
        <a:xfrm>
          <a:off x="0" y="0"/>
          <a:ext cx="0" cy="0"/>
          <a:chOff x="0" y="0"/>
          <a:chExt cx="0" cy="0"/>
        </a:xfrm>
      </p:grpSpPr>
      <p:sp>
        <p:nvSpPr>
          <p:cNvPr id="342" name="Google Shape;342;g5b8696c422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5b8696c422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0" name="Shape 350"/>
        <p:cNvGrpSpPr/>
        <p:nvPr/>
      </p:nvGrpSpPr>
      <p:grpSpPr>
        <a:xfrm>
          <a:off x="0" y="0"/>
          <a:ext cx="0" cy="0"/>
          <a:chOff x="0" y="0"/>
          <a:chExt cx="0" cy="0"/>
        </a:xfrm>
      </p:grpSpPr>
      <p:sp>
        <p:nvSpPr>
          <p:cNvPr id="351" name="Google Shape;351;g5b8696c422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5b8696c422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7" name="Shape 357"/>
        <p:cNvGrpSpPr/>
        <p:nvPr/>
      </p:nvGrpSpPr>
      <p:grpSpPr>
        <a:xfrm>
          <a:off x="0" y="0"/>
          <a:ext cx="0" cy="0"/>
          <a:chOff x="0" y="0"/>
          <a:chExt cx="0" cy="0"/>
        </a:xfrm>
      </p:grpSpPr>
      <p:sp>
        <p:nvSpPr>
          <p:cNvPr id="358" name="Google Shape;358;g5b8696c422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5b8696c422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3" name="Shape 363"/>
        <p:cNvGrpSpPr/>
        <p:nvPr/>
      </p:nvGrpSpPr>
      <p:grpSpPr>
        <a:xfrm>
          <a:off x="0" y="0"/>
          <a:ext cx="0" cy="0"/>
          <a:chOff x="0" y="0"/>
          <a:chExt cx="0" cy="0"/>
        </a:xfrm>
      </p:grpSpPr>
      <p:sp>
        <p:nvSpPr>
          <p:cNvPr id="364" name="Google Shape;364;g5b8696c422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5b8696c422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9" name="Shape 369"/>
        <p:cNvGrpSpPr/>
        <p:nvPr/>
      </p:nvGrpSpPr>
      <p:grpSpPr>
        <a:xfrm>
          <a:off x="0" y="0"/>
          <a:ext cx="0" cy="0"/>
          <a:chOff x="0" y="0"/>
          <a:chExt cx="0" cy="0"/>
        </a:xfrm>
      </p:grpSpPr>
      <p:sp>
        <p:nvSpPr>
          <p:cNvPr id="370" name="Google Shape;370;g5b8696c422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5b8696c422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5" name="Shape 375"/>
        <p:cNvGrpSpPr/>
        <p:nvPr/>
      </p:nvGrpSpPr>
      <p:grpSpPr>
        <a:xfrm>
          <a:off x="0" y="0"/>
          <a:ext cx="0" cy="0"/>
          <a:chOff x="0" y="0"/>
          <a:chExt cx="0" cy="0"/>
        </a:xfrm>
      </p:grpSpPr>
      <p:sp>
        <p:nvSpPr>
          <p:cNvPr id="376" name="Google Shape;376;g5bf66c886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5bf66c886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1" name="Shape 381"/>
        <p:cNvGrpSpPr/>
        <p:nvPr/>
      </p:nvGrpSpPr>
      <p:grpSpPr>
        <a:xfrm>
          <a:off x="0" y="0"/>
          <a:ext cx="0" cy="0"/>
          <a:chOff x="0" y="0"/>
          <a:chExt cx="0" cy="0"/>
        </a:xfrm>
      </p:grpSpPr>
      <p:sp>
        <p:nvSpPr>
          <p:cNvPr id="382" name="Google Shape;382;g5bf66c886a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5bf66c886a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7" name="Shape 387"/>
        <p:cNvGrpSpPr/>
        <p:nvPr/>
      </p:nvGrpSpPr>
      <p:grpSpPr>
        <a:xfrm>
          <a:off x="0" y="0"/>
          <a:ext cx="0" cy="0"/>
          <a:chOff x="0" y="0"/>
          <a:chExt cx="0" cy="0"/>
        </a:xfrm>
      </p:grpSpPr>
      <p:sp>
        <p:nvSpPr>
          <p:cNvPr id="388" name="Google Shape;388;g5b8696c422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5b8696c422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4" name="Shape 394"/>
        <p:cNvGrpSpPr/>
        <p:nvPr/>
      </p:nvGrpSpPr>
      <p:grpSpPr>
        <a:xfrm>
          <a:off x="0" y="0"/>
          <a:ext cx="0" cy="0"/>
          <a:chOff x="0" y="0"/>
          <a:chExt cx="0" cy="0"/>
        </a:xfrm>
      </p:grpSpPr>
      <p:sp>
        <p:nvSpPr>
          <p:cNvPr id="395" name="Google Shape;395;g5b8696c422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5b8696c422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0" name="Shape 400"/>
        <p:cNvGrpSpPr/>
        <p:nvPr/>
      </p:nvGrpSpPr>
      <p:grpSpPr>
        <a:xfrm>
          <a:off x="0" y="0"/>
          <a:ext cx="0" cy="0"/>
          <a:chOff x="0" y="0"/>
          <a:chExt cx="0" cy="0"/>
        </a:xfrm>
      </p:grpSpPr>
      <p:sp>
        <p:nvSpPr>
          <p:cNvPr id="401" name="Google Shape;401;g5b8696c422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5b8696c422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7" name="Shape 407"/>
        <p:cNvGrpSpPr/>
        <p:nvPr/>
      </p:nvGrpSpPr>
      <p:grpSpPr>
        <a:xfrm>
          <a:off x="0" y="0"/>
          <a:ext cx="0" cy="0"/>
          <a:chOff x="0" y="0"/>
          <a:chExt cx="0" cy="0"/>
        </a:xfrm>
      </p:grpSpPr>
      <p:sp>
        <p:nvSpPr>
          <p:cNvPr id="408" name="Google Shape;408;g5b8696c422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5b8696c422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3" name="Shape 413"/>
        <p:cNvGrpSpPr/>
        <p:nvPr/>
      </p:nvGrpSpPr>
      <p:grpSpPr>
        <a:xfrm>
          <a:off x="0" y="0"/>
          <a:ext cx="0" cy="0"/>
          <a:chOff x="0" y="0"/>
          <a:chExt cx="0" cy="0"/>
        </a:xfrm>
      </p:grpSpPr>
      <p:sp>
        <p:nvSpPr>
          <p:cNvPr id="414" name="Google Shape;414;g5bf66c886a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5bf66c886a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2.jpg"/><Relationship Id="rId5" Type="http://schemas.openxmlformats.org/officeDocument/2006/relationships/image" Target="../media/image22.jpg"/><Relationship Id="rId6"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omments" Target="../comments/commen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youtube.com/watch?v=-90iRQbd0fg" TargetMode="External"/><Relationship Id="rId4" Type="http://schemas.openxmlformats.org/officeDocument/2006/relationships/hyperlink" Target="http://www.youtube.com/watch?v=-90iRQbd0fg" TargetMode="External"/><Relationship Id="rId5"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youtube.com/watch?v=xP-ZwmCPBAs" TargetMode="External"/><Relationship Id="rId4" Type="http://schemas.openxmlformats.org/officeDocument/2006/relationships/hyperlink" Target="http://www.youtube.com/watch?v=xP-ZwmCPBAs" TargetMode="External"/><Relationship Id="rId5"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youtube.com/watch?v=UdjGiIn9HMM" TargetMode="External"/><Relationship Id="rId4" Type="http://schemas.openxmlformats.org/officeDocument/2006/relationships/hyperlink" Target="http://www.youtube.com/watch?v=UdjGiIn9HMM" TargetMode="External"/><Relationship Id="rId5"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youtube.com/watch?v=cFEarBzelBs" TargetMode="External"/><Relationship Id="rId4" Type="http://schemas.openxmlformats.org/officeDocument/2006/relationships/hyperlink" Target="http://www.youtube.com/watch?v=cFEarBzelBs" TargetMode="External"/><Relationship Id="rId5"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jp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youtube.com/watch?v=w61d-NBqafM" TargetMode="External"/><Relationship Id="rId4" Type="http://schemas.openxmlformats.org/officeDocument/2006/relationships/hyperlink" Target="http://www.youtube.com/watch?v=w61d-NBqafM" TargetMode="External"/><Relationship Id="rId5"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www.youtube.com/watch?v=LYu-d6y5HRo&amp;t=0m36s" TargetMode="External"/><Relationship Id="rId4" Type="http://schemas.openxmlformats.org/officeDocument/2006/relationships/hyperlink" Target="http://www.youtube.com/watch?v=LYu-d6y5HRo" TargetMode="External"/><Relationship Id="rId5"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jpg"/><Relationship Id="rId4"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www.youtube.com/watch?v=xbiDrzTd8fE&amp;t=0m51s" TargetMode="External"/><Relationship Id="rId4" Type="http://schemas.openxmlformats.org/officeDocument/2006/relationships/hyperlink" Target="http://www.youtube.com/watch?v=xbiDrzTd8fE" TargetMode="External"/><Relationship Id="rId5"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www.youtube.com/watch?v=DnNnzZ6Ta2c" TargetMode="External"/><Relationship Id="rId4" Type="http://schemas.openxmlformats.org/officeDocument/2006/relationships/image" Target="../media/image17.jpg"/><Relationship Id="rId5" Type="http://schemas.openxmlformats.org/officeDocument/2006/relationships/hyperlink" Target="https://www.youtube.com/watch?v=DnNnzZ6Ta2c"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www.youtube.com/watch?v=mVWid90Wwxs" TargetMode="External"/><Relationship Id="rId4" Type="http://schemas.openxmlformats.org/officeDocument/2006/relationships/hyperlink" Target="http://www.youtube.com/watch?v=mVWid90Wwxs" TargetMode="External"/><Relationship Id="rId5" Type="http://schemas.openxmlformats.org/officeDocument/2006/relationships/image" Target="../media/image1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www.youtube.com/watch?v=ZDYGogxH3hw&amp;t=3m45s" TargetMode="External"/><Relationship Id="rId4" Type="http://schemas.openxmlformats.org/officeDocument/2006/relationships/hyperlink" Target="http://www.youtube.com/watch?v=ZDYGogxH3hw" TargetMode="External"/><Relationship Id="rId5" Type="http://schemas.openxmlformats.org/officeDocument/2006/relationships/image" Target="../media/image2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Social Media Platform</a:t>
            </a:r>
            <a:endParaRPr/>
          </a:p>
        </p:txBody>
      </p:sp>
      <p:sp>
        <p:nvSpPr>
          <p:cNvPr id="135" name="Google Shape;135;p13"/>
          <p:cNvSpPr txBox="1"/>
          <p:nvPr>
            <p:ph idx="1" type="subTitle"/>
          </p:nvPr>
        </p:nvSpPr>
        <p:spPr>
          <a:xfrm>
            <a:off x="1063875" y="3687525"/>
            <a:ext cx="4888500" cy="10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Integrated classroom experience f</a:t>
            </a:r>
            <a:r>
              <a:rPr lang="en" sz="2400"/>
              <a:t>or students by students</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Common Model</a:t>
            </a:r>
            <a:endParaRPr/>
          </a:p>
        </p:txBody>
      </p:sp>
      <p:sp>
        <p:nvSpPr>
          <p:cNvPr id="141" name="Google Shape;141;p14"/>
          <p:cNvSpPr txBox="1"/>
          <p:nvPr>
            <p:ph idx="1" type="body"/>
          </p:nvPr>
        </p:nvSpPr>
        <p:spPr>
          <a:xfrm>
            <a:off x="6084275" y="2885400"/>
            <a:ext cx="2637900" cy="2131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n" sz="1600"/>
              <a:t>They solve a problem teachers and school admins have</a:t>
            </a:r>
            <a:endParaRPr b="1" sz="1600"/>
          </a:p>
          <a:p>
            <a:pPr indent="-330200" lvl="0" marL="457200" rtl="0" algn="l">
              <a:spcBef>
                <a:spcPts val="0"/>
              </a:spcBef>
              <a:spcAft>
                <a:spcPts val="0"/>
              </a:spcAft>
              <a:buSzPts val="1600"/>
              <a:buChar char="●"/>
            </a:pPr>
            <a:r>
              <a:rPr b="1" lang="en" sz="1600"/>
              <a:t>Students should have more influence in their education</a:t>
            </a:r>
            <a:endParaRPr b="1" sz="1600"/>
          </a:p>
        </p:txBody>
      </p:sp>
      <p:pic>
        <p:nvPicPr>
          <p:cNvPr id="142" name="Google Shape;142;p14"/>
          <p:cNvPicPr preferRelativeResize="0"/>
          <p:nvPr/>
        </p:nvPicPr>
        <p:blipFill>
          <a:blip r:embed="rId3">
            <a:alphaModFix/>
          </a:blip>
          <a:stretch>
            <a:fillRect/>
          </a:stretch>
        </p:blipFill>
        <p:spPr>
          <a:xfrm>
            <a:off x="803025" y="3245075"/>
            <a:ext cx="2066925" cy="942975"/>
          </a:xfrm>
          <a:prstGeom prst="rect">
            <a:avLst/>
          </a:prstGeom>
          <a:noFill/>
          <a:ln>
            <a:noFill/>
          </a:ln>
        </p:spPr>
      </p:pic>
      <p:sp>
        <p:nvSpPr>
          <p:cNvPr id="143" name="Google Shape;143;p14"/>
          <p:cNvSpPr txBox="1"/>
          <p:nvPr/>
        </p:nvSpPr>
        <p:spPr>
          <a:xfrm>
            <a:off x="745538" y="4352200"/>
            <a:ext cx="21819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Lato"/>
                <a:ea typeface="Lato"/>
                <a:cs typeface="Lato"/>
                <a:sym typeface="Lato"/>
              </a:rPr>
              <a:t>Synergy - Grade Portal</a:t>
            </a:r>
            <a:endParaRPr b="1">
              <a:solidFill>
                <a:srgbClr val="FFFFFF"/>
              </a:solidFill>
              <a:latin typeface="Lato"/>
              <a:ea typeface="Lato"/>
              <a:cs typeface="Lato"/>
              <a:sym typeface="Lato"/>
            </a:endParaRPr>
          </a:p>
        </p:txBody>
      </p:sp>
      <p:pic>
        <p:nvPicPr>
          <p:cNvPr id="144" name="Google Shape;144;p14"/>
          <p:cNvPicPr preferRelativeResize="0"/>
          <p:nvPr/>
        </p:nvPicPr>
        <p:blipFill>
          <a:blip r:embed="rId4">
            <a:alphaModFix/>
          </a:blip>
          <a:stretch>
            <a:fillRect/>
          </a:stretch>
        </p:blipFill>
        <p:spPr>
          <a:xfrm>
            <a:off x="6084278" y="770725"/>
            <a:ext cx="2480724" cy="1396575"/>
          </a:xfrm>
          <a:prstGeom prst="rect">
            <a:avLst/>
          </a:prstGeom>
          <a:noFill/>
          <a:ln>
            <a:noFill/>
          </a:ln>
        </p:spPr>
      </p:pic>
      <p:sp>
        <p:nvSpPr>
          <p:cNvPr id="145" name="Google Shape;145;p14"/>
          <p:cNvSpPr txBox="1"/>
          <p:nvPr/>
        </p:nvSpPr>
        <p:spPr>
          <a:xfrm>
            <a:off x="6233675" y="2253750"/>
            <a:ext cx="25587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Lato"/>
                <a:ea typeface="Lato"/>
                <a:cs typeface="Lato"/>
                <a:sym typeface="Lato"/>
              </a:rPr>
              <a:t>Edmodo</a:t>
            </a:r>
            <a:r>
              <a:rPr b="1" lang="en">
                <a:solidFill>
                  <a:srgbClr val="FFFFFF"/>
                </a:solidFill>
                <a:latin typeface="Lato"/>
                <a:ea typeface="Lato"/>
                <a:cs typeface="Lato"/>
                <a:sym typeface="Lato"/>
              </a:rPr>
              <a:t> - Student Classroom</a:t>
            </a:r>
            <a:endParaRPr b="1">
              <a:solidFill>
                <a:srgbClr val="FFFFFF"/>
              </a:solidFill>
              <a:latin typeface="Lato"/>
              <a:ea typeface="Lato"/>
              <a:cs typeface="Lato"/>
              <a:sym typeface="Lato"/>
            </a:endParaRPr>
          </a:p>
        </p:txBody>
      </p:sp>
      <p:pic>
        <p:nvPicPr>
          <p:cNvPr id="146" name="Google Shape;146;p14"/>
          <p:cNvPicPr preferRelativeResize="0"/>
          <p:nvPr/>
        </p:nvPicPr>
        <p:blipFill>
          <a:blip r:embed="rId5">
            <a:alphaModFix/>
          </a:blip>
          <a:stretch>
            <a:fillRect/>
          </a:stretch>
        </p:blipFill>
        <p:spPr>
          <a:xfrm>
            <a:off x="1475725" y="947374"/>
            <a:ext cx="1527350" cy="1527350"/>
          </a:xfrm>
          <a:prstGeom prst="rect">
            <a:avLst/>
          </a:prstGeom>
          <a:noFill/>
          <a:ln>
            <a:noFill/>
          </a:ln>
        </p:spPr>
      </p:pic>
      <p:pic>
        <p:nvPicPr>
          <p:cNvPr id="147" name="Google Shape;147;p14"/>
          <p:cNvPicPr preferRelativeResize="0"/>
          <p:nvPr/>
        </p:nvPicPr>
        <p:blipFill>
          <a:blip r:embed="rId6">
            <a:alphaModFix/>
          </a:blip>
          <a:stretch>
            <a:fillRect/>
          </a:stretch>
        </p:blipFill>
        <p:spPr>
          <a:xfrm>
            <a:off x="3630998" y="1375127"/>
            <a:ext cx="1974750" cy="1974750"/>
          </a:xfrm>
          <a:prstGeom prst="rect">
            <a:avLst/>
          </a:prstGeom>
          <a:noFill/>
          <a:ln>
            <a:noFill/>
          </a:ln>
        </p:spPr>
      </p:pic>
      <p:sp>
        <p:nvSpPr>
          <p:cNvPr id="148" name="Google Shape;148;p14"/>
          <p:cNvSpPr txBox="1"/>
          <p:nvPr/>
        </p:nvSpPr>
        <p:spPr>
          <a:xfrm>
            <a:off x="3631000" y="3505532"/>
            <a:ext cx="2181900" cy="6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Lato"/>
                <a:ea typeface="Lato"/>
                <a:cs typeface="Lato"/>
                <a:sym typeface="Lato"/>
              </a:rPr>
              <a:t>Google Classroom </a:t>
            </a:r>
            <a:r>
              <a:rPr b="1" lang="en">
                <a:solidFill>
                  <a:srgbClr val="FFFFFF"/>
                </a:solidFill>
                <a:latin typeface="Lato"/>
                <a:ea typeface="Lato"/>
                <a:cs typeface="Lato"/>
                <a:sym typeface="Lato"/>
              </a:rPr>
              <a:t> - Student Classroom</a:t>
            </a:r>
            <a:endParaRPr b="1">
              <a:solidFill>
                <a:srgbClr val="FFFFFF"/>
              </a:solidFill>
              <a:latin typeface="Lato"/>
              <a:ea typeface="Lato"/>
              <a:cs typeface="Lato"/>
              <a:sym typeface="Lato"/>
            </a:endParaRPr>
          </a:p>
        </p:txBody>
      </p:sp>
      <p:sp>
        <p:nvSpPr>
          <p:cNvPr id="149" name="Google Shape;149;p14"/>
          <p:cNvSpPr txBox="1"/>
          <p:nvPr/>
        </p:nvSpPr>
        <p:spPr>
          <a:xfrm>
            <a:off x="873375" y="2571750"/>
            <a:ext cx="24003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Lato"/>
                <a:ea typeface="Lato"/>
                <a:cs typeface="Lato"/>
                <a:sym typeface="Lato"/>
              </a:rPr>
              <a:t>Canvas </a:t>
            </a:r>
            <a:r>
              <a:rPr b="1" lang="en">
                <a:solidFill>
                  <a:srgbClr val="FFFFFF"/>
                </a:solidFill>
                <a:latin typeface="Lato"/>
                <a:ea typeface="Lato"/>
                <a:cs typeface="Lato"/>
                <a:sym typeface="Lato"/>
              </a:rPr>
              <a:t>- Student Classroom</a:t>
            </a:r>
            <a:endParaRPr b="1">
              <a:solidFill>
                <a:srgbClr val="FFFFFF"/>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3" name="Shape 153"/>
        <p:cNvGrpSpPr/>
        <p:nvPr/>
      </p:nvGrpSpPr>
      <p:grpSpPr>
        <a:xfrm>
          <a:off x="0" y="0"/>
          <a:ext cx="0" cy="0"/>
          <a:chOff x="0" y="0"/>
          <a:chExt cx="0" cy="0"/>
        </a:xfrm>
      </p:grpSpPr>
      <p:sp>
        <p:nvSpPr>
          <p:cNvPr id="154" name="Google Shape;154;p1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facing directions</a:t>
            </a:r>
            <a:endParaRPr/>
          </a:p>
        </p:txBody>
      </p:sp>
      <p:sp>
        <p:nvSpPr>
          <p:cNvPr id="155" name="Google Shape;155;p15"/>
          <p:cNvSpPr/>
          <p:nvPr/>
        </p:nvSpPr>
        <p:spPr>
          <a:xfrm>
            <a:off x="3390900" y="3426850"/>
            <a:ext cx="1670400" cy="7518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967150" y="3426850"/>
            <a:ext cx="1670400" cy="7518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5814650" y="3426850"/>
            <a:ext cx="1670400" cy="7518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3390900" y="1991450"/>
            <a:ext cx="1670400" cy="7518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967150" y="1991450"/>
            <a:ext cx="1670400" cy="7518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
          <p:cNvSpPr/>
          <p:nvPr/>
        </p:nvSpPr>
        <p:spPr>
          <a:xfrm>
            <a:off x="5814650" y="1991450"/>
            <a:ext cx="1670400" cy="7518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txBox="1"/>
          <p:nvPr/>
        </p:nvSpPr>
        <p:spPr>
          <a:xfrm>
            <a:off x="1270450" y="2169050"/>
            <a:ext cx="10638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Lato"/>
                <a:ea typeface="Lato"/>
                <a:cs typeface="Lato"/>
                <a:sym typeface="Lato"/>
              </a:rPr>
              <a:t>Company</a:t>
            </a:r>
            <a:endParaRPr b="1">
              <a:solidFill>
                <a:srgbClr val="FFFFFF"/>
              </a:solidFill>
              <a:latin typeface="Lato"/>
              <a:ea typeface="Lato"/>
              <a:cs typeface="Lato"/>
              <a:sym typeface="Lato"/>
            </a:endParaRPr>
          </a:p>
        </p:txBody>
      </p:sp>
      <p:cxnSp>
        <p:nvCxnSpPr>
          <p:cNvPr id="162" name="Google Shape;162;p15"/>
          <p:cNvCxnSpPr>
            <a:endCxn id="158" idx="1"/>
          </p:cNvCxnSpPr>
          <p:nvPr/>
        </p:nvCxnSpPr>
        <p:spPr>
          <a:xfrm flipH="1" rot="10800000">
            <a:off x="2664000" y="2367350"/>
            <a:ext cx="726900" cy="6600"/>
          </a:xfrm>
          <a:prstGeom prst="straightConnector1">
            <a:avLst/>
          </a:prstGeom>
          <a:noFill/>
          <a:ln cap="flat" cmpd="sng" w="28575">
            <a:solidFill>
              <a:schemeClr val="dk2"/>
            </a:solidFill>
            <a:prstDash val="solid"/>
            <a:round/>
            <a:headEnd len="med" w="med" type="none"/>
            <a:tailEnd len="med" w="med" type="triangle"/>
          </a:ln>
        </p:spPr>
      </p:cxnSp>
      <p:cxnSp>
        <p:nvCxnSpPr>
          <p:cNvPr id="163" name="Google Shape;163;p15"/>
          <p:cNvCxnSpPr/>
          <p:nvPr/>
        </p:nvCxnSpPr>
        <p:spPr>
          <a:xfrm flipH="1" rot="10800000">
            <a:off x="5074525" y="2367350"/>
            <a:ext cx="726900" cy="6600"/>
          </a:xfrm>
          <a:prstGeom prst="straightConnector1">
            <a:avLst/>
          </a:prstGeom>
          <a:noFill/>
          <a:ln cap="flat" cmpd="sng" w="28575">
            <a:solidFill>
              <a:schemeClr val="dk2"/>
            </a:solidFill>
            <a:prstDash val="solid"/>
            <a:round/>
            <a:headEnd len="med" w="med" type="none"/>
            <a:tailEnd len="med" w="med" type="triangle"/>
          </a:ln>
        </p:spPr>
      </p:cxnSp>
      <p:cxnSp>
        <p:nvCxnSpPr>
          <p:cNvPr id="164" name="Google Shape;164;p15"/>
          <p:cNvCxnSpPr>
            <a:stCxn id="155" idx="1"/>
            <a:endCxn id="156" idx="3"/>
          </p:cNvCxnSpPr>
          <p:nvPr/>
        </p:nvCxnSpPr>
        <p:spPr>
          <a:xfrm rot="10800000">
            <a:off x="2637600" y="3802750"/>
            <a:ext cx="753300" cy="0"/>
          </a:xfrm>
          <a:prstGeom prst="straightConnector1">
            <a:avLst/>
          </a:prstGeom>
          <a:noFill/>
          <a:ln cap="flat" cmpd="sng" w="28575">
            <a:solidFill>
              <a:schemeClr val="dk2"/>
            </a:solidFill>
            <a:prstDash val="solid"/>
            <a:round/>
            <a:headEnd len="med" w="med" type="none"/>
            <a:tailEnd len="med" w="med" type="triangle"/>
          </a:ln>
        </p:spPr>
      </p:cxnSp>
      <p:cxnSp>
        <p:nvCxnSpPr>
          <p:cNvPr id="165" name="Google Shape;165;p15"/>
          <p:cNvCxnSpPr>
            <a:stCxn id="157" idx="1"/>
            <a:endCxn id="155" idx="3"/>
          </p:cNvCxnSpPr>
          <p:nvPr/>
        </p:nvCxnSpPr>
        <p:spPr>
          <a:xfrm rot="10800000">
            <a:off x="5061350" y="3802750"/>
            <a:ext cx="753300" cy="0"/>
          </a:xfrm>
          <a:prstGeom prst="straightConnector1">
            <a:avLst/>
          </a:prstGeom>
          <a:noFill/>
          <a:ln cap="flat" cmpd="sng" w="28575">
            <a:solidFill>
              <a:schemeClr val="dk2"/>
            </a:solidFill>
            <a:prstDash val="solid"/>
            <a:round/>
            <a:headEnd len="med" w="med" type="none"/>
            <a:tailEnd len="med" w="med" type="triangle"/>
          </a:ln>
        </p:spPr>
      </p:cxnSp>
      <p:sp>
        <p:nvSpPr>
          <p:cNvPr id="166" name="Google Shape;166;p15"/>
          <p:cNvSpPr txBox="1"/>
          <p:nvPr/>
        </p:nvSpPr>
        <p:spPr>
          <a:xfrm>
            <a:off x="3661213" y="2169050"/>
            <a:ext cx="11430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Lato"/>
                <a:ea typeface="Lato"/>
                <a:cs typeface="Lato"/>
                <a:sym typeface="Lato"/>
              </a:rPr>
              <a:t>Educators</a:t>
            </a:r>
            <a:endParaRPr b="1">
              <a:solidFill>
                <a:srgbClr val="FFFFFF"/>
              </a:solidFill>
              <a:latin typeface="Lato"/>
              <a:ea typeface="Lato"/>
              <a:cs typeface="Lato"/>
              <a:sym typeface="Lato"/>
            </a:endParaRPr>
          </a:p>
        </p:txBody>
      </p:sp>
      <p:sp>
        <p:nvSpPr>
          <p:cNvPr id="167" name="Google Shape;167;p15"/>
          <p:cNvSpPr txBox="1"/>
          <p:nvPr/>
        </p:nvSpPr>
        <p:spPr>
          <a:xfrm>
            <a:off x="6157550" y="2169050"/>
            <a:ext cx="9846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Lato"/>
                <a:ea typeface="Lato"/>
                <a:cs typeface="Lato"/>
                <a:sym typeface="Lato"/>
              </a:rPr>
              <a:t>Students</a:t>
            </a:r>
            <a:endParaRPr b="1">
              <a:solidFill>
                <a:srgbClr val="FFFFFF"/>
              </a:solidFill>
              <a:latin typeface="Lato"/>
              <a:ea typeface="Lato"/>
              <a:cs typeface="Lato"/>
              <a:sym typeface="Lato"/>
            </a:endParaRPr>
          </a:p>
        </p:txBody>
      </p:sp>
      <p:sp>
        <p:nvSpPr>
          <p:cNvPr id="168" name="Google Shape;168;p15"/>
          <p:cNvSpPr txBox="1"/>
          <p:nvPr/>
        </p:nvSpPr>
        <p:spPr>
          <a:xfrm>
            <a:off x="1230838" y="3604450"/>
            <a:ext cx="11430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Lato"/>
                <a:ea typeface="Lato"/>
                <a:cs typeface="Lato"/>
                <a:sym typeface="Lato"/>
              </a:rPr>
              <a:t>Educators</a:t>
            </a:r>
            <a:endParaRPr b="1">
              <a:solidFill>
                <a:srgbClr val="FFFFFF"/>
              </a:solidFill>
              <a:latin typeface="Lato"/>
              <a:ea typeface="Lato"/>
              <a:cs typeface="Lato"/>
              <a:sym typeface="Lato"/>
            </a:endParaRPr>
          </a:p>
        </p:txBody>
      </p:sp>
      <p:sp>
        <p:nvSpPr>
          <p:cNvPr id="169" name="Google Shape;169;p15"/>
          <p:cNvSpPr txBox="1"/>
          <p:nvPr/>
        </p:nvSpPr>
        <p:spPr>
          <a:xfrm>
            <a:off x="3733825" y="3604450"/>
            <a:ext cx="9846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Lato"/>
                <a:ea typeface="Lato"/>
                <a:cs typeface="Lato"/>
                <a:sym typeface="Lato"/>
              </a:rPr>
              <a:t>Students</a:t>
            </a:r>
            <a:endParaRPr b="1">
              <a:solidFill>
                <a:srgbClr val="FFFFFF"/>
              </a:solidFill>
              <a:latin typeface="Lato"/>
              <a:ea typeface="Lato"/>
              <a:cs typeface="Lato"/>
              <a:sym typeface="Lato"/>
            </a:endParaRPr>
          </a:p>
        </p:txBody>
      </p:sp>
      <p:sp>
        <p:nvSpPr>
          <p:cNvPr id="170" name="Google Shape;170;p15"/>
          <p:cNvSpPr txBox="1"/>
          <p:nvPr/>
        </p:nvSpPr>
        <p:spPr>
          <a:xfrm>
            <a:off x="6157575" y="3604450"/>
            <a:ext cx="10638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Lato"/>
                <a:ea typeface="Lato"/>
                <a:cs typeface="Lato"/>
                <a:sym typeface="Lato"/>
              </a:rPr>
              <a:t>Company</a:t>
            </a:r>
            <a:endParaRPr b="1">
              <a:solidFill>
                <a:srgbClr val="FFFFFF"/>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4" name="Shape 174"/>
        <p:cNvGrpSpPr/>
        <p:nvPr/>
      </p:nvGrpSpPr>
      <p:grpSpPr>
        <a:xfrm>
          <a:off x="0" y="0"/>
          <a:ext cx="0" cy="0"/>
          <a:chOff x="0" y="0"/>
          <a:chExt cx="0" cy="0"/>
        </a:xfrm>
      </p:grpSpPr>
      <p:sp>
        <p:nvSpPr>
          <p:cNvPr id="175" name="Google Shape;175;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Current Situation</a:t>
            </a:r>
            <a:endParaRPr/>
          </a:p>
        </p:txBody>
      </p:sp>
      <p:sp>
        <p:nvSpPr>
          <p:cNvPr id="176" name="Google Shape;176;p16"/>
          <p:cNvSpPr txBox="1"/>
          <p:nvPr>
            <p:ph idx="1" type="body"/>
          </p:nvPr>
        </p:nvSpPr>
        <p:spPr>
          <a:xfrm>
            <a:off x="1297500" y="1567550"/>
            <a:ext cx="7038900" cy="31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People </a:t>
            </a:r>
            <a:r>
              <a:rPr lang="en" sz="1400">
                <a:solidFill>
                  <a:srgbClr val="FFFFFF"/>
                </a:solidFill>
              </a:rPr>
              <a:t>often </a:t>
            </a:r>
            <a:r>
              <a:rPr lang="en" sz="1400">
                <a:solidFill>
                  <a:srgbClr val="FFFFFF"/>
                </a:solidFill>
              </a:rPr>
              <a:t>misconstrue </a:t>
            </a:r>
            <a:r>
              <a:rPr lang="en" sz="1400">
                <a:solidFill>
                  <a:srgbClr val="FFFFFF"/>
                </a:solidFill>
              </a:rPr>
              <a:t>their disdain for school because they "hate learning".</a:t>
            </a:r>
            <a:endParaRPr sz="1400">
              <a:solidFill>
                <a:srgbClr val="FFFFFF"/>
              </a:solidFill>
            </a:endParaRPr>
          </a:p>
          <a:p>
            <a:pPr indent="0" lvl="0" marL="0" rtl="0" algn="l">
              <a:spcBef>
                <a:spcPts val="1600"/>
              </a:spcBef>
              <a:spcAft>
                <a:spcPts val="0"/>
              </a:spcAft>
              <a:buNone/>
            </a:pPr>
            <a:r>
              <a:rPr lang="en" sz="1400">
                <a:solidFill>
                  <a:srgbClr val="FFFFFF"/>
                </a:solidFill>
              </a:rPr>
              <a:t>Other issues include:</a:t>
            </a:r>
            <a:endParaRPr sz="1400">
              <a:solidFill>
                <a:srgbClr val="FFFFFF"/>
              </a:solidFill>
            </a:endParaRPr>
          </a:p>
          <a:p>
            <a:pPr indent="-317500" lvl="0" marL="457200" rtl="0" algn="l">
              <a:spcBef>
                <a:spcPts val="1600"/>
              </a:spcBef>
              <a:spcAft>
                <a:spcPts val="0"/>
              </a:spcAft>
              <a:buClr>
                <a:srgbClr val="FFFFFF"/>
              </a:buClr>
              <a:buSzPts val="1400"/>
              <a:buChar char="●"/>
            </a:pPr>
            <a:r>
              <a:rPr lang="en" sz="1400">
                <a:solidFill>
                  <a:srgbClr val="FFFFFF"/>
                </a:solidFill>
              </a:rPr>
              <a:t>It's frustrating</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It's not FUN</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They are forced</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Environment is t0xic</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Learn slower than peers</a:t>
            </a:r>
            <a:endParaRPr sz="1400">
              <a:solidFill>
                <a:srgbClr val="FFFFFF"/>
              </a:solidFill>
            </a:endParaRPr>
          </a:p>
          <a:p>
            <a:pPr indent="-317500" lvl="1" marL="914400" rtl="0" algn="l">
              <a:spcBef>
                <a:spcPts val="0"/>
              </a:spcBef>
              <a:spcAft>
                <a:spcPts val="0"/>
              </a:spcAft>
              <a:buClr>
                <a:srgbClr val="FFFFFF"/>
              </a:buClr>
              <a:buSzPts val="1400"/>
              <a:buChar char="○"/>
            </a:pPr>
            <a:r>
              <a:rPr lang="en" sz="1400">
                <a:solidFill>
                  <a:srgbClr val="FFFFFF"/>
                </a:solidFill>
              </a:rPr>
              <a:t>School pushes everyone along at the same rate</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They don't feel safe</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Hard to make friends / interact with community</a:t>
            </a:r>
            <a:endParaRPr sz="1400">
              <a:solidFill>
                <a:srgbClr val="FFFFFF"/>
              </a:solidFill>
            </a:endParaRPr>
          </a:p>
        </p:txBody>
      </p:sp>
      <p:pic>
        <p:nvPicPr>
          <p:cNvPr id="177" name="Google Shape;177;p16"/>
          <p:cNvPicPr preferRelativeResize="0"/>
          <p:nvPr/>
        </p:nvPicPr>
        <p:blipFill>
          <a:blip r:embed="rId3">
            <a:alphaModFix/>
          </a:blip>
          <a:stretch>
            <a:fillRect/>
          </a:stretch>
        </p:blipFill>
        <p:spPr>
          <a:xfrm>
            <a:off x="6492963" y="2079225"/>
            <a:ext cx="2143125" cy="2143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1321550" y="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Identified Problems / Solutions - Part 1</a:t>
            </a:r>
            <a:endParaRPr/>
          </a:p>
        </p:txBody>
      </p:sp>
      <p:sp>
        <p:nvSpPr>
          <p:cNvPr id="183" name="Google Shape;183;p17"/>
          <p:cNvSpPr txBox="1"/>
          <p:nvPr>
            <p:ph idx="1" type="body"/>
          </p:nvPr>
        </p:nvSpPr>
        <p:spPr>
          <a:xfrm>
            <a:off x="1417650" y="437900"/>
            <a:ext cx="7038900" cy="291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Prob: Difficult to </a:t>
            </a:r>
            <a:r>
              <a:rPr lang="en"/>
              <a:t>communicate</a:t>
            </a:r>
            <a:r>
              <a:rPr lang="en"/>
              <a:t> with other students outside of school</a:t>
            </a:r>
            <a:endParaRPr/>
          </a:p>
          <a:p>
            <a:pPr indent="-298450" lvl="1" marL="914400" rtl="0" algn="l">
              <a:spcBef>
                <a:spcPts val="0"/>
              </a:spcBef>
              <a:spcAft>
                <a:spcPts val="0"/>
              </a:spcAft>
              <a:buSzPts val="1100"/>
              <a:buChar char="○"/>
            </a:pPr>
            <a:r>
              <a:rPr lang="en"/>
              <a:t>Sol: Text platform based on SnapChat model</a:t>
            </a:r>
            <a:endParaRPr/>
          </a:p>
          <a:p>
            <a:pPr indent="-298450" lvl="1" marL="914400" rtl="0" algn="l">
              <a:spcBef>
                <a:spcPts val="0"/>
              </a:spcBef>
              <a:spcAft>
                <a:spcPts val="0"/>
              </a:spcAft>
              <a:buSzPts val="1100"/>
              <a:buChar char="○"/>
            </a:pPr>
            <a:r>
              <a:rPr lang="en"/>
              <a:t>Diff: </a:t>
            </a:r>
            <a:endParaRPr/>
          </a:p>
          <a:p>
            <a:pPr indent="-298450" lvl="2" marL="1371600" rtl="0" algn="l">
              <a:spcBef>
                <a:spcPts val="0"/>
              </a:spcBef>
              <a:spcAft>
                <a:spcPts val="0"/>
              </a:spcAft>
              <a:buSzPts val="1100"/>
              <a:buChar char="■"/>
            </a:pPr>
            <a:r>
              <a:rPr lang="en"/>
              <a:t>Emojis are community created</a:t>
            </a:r>
            <a:endParaRPr/>
          </a:p>
          <a:p>
            <a:pPr indent="-298450" lvl="2" marL="1371600" rtl="0" algn="l">
              <a:spcBef>
                <a:spcPts val="0"/>
              </a:spcBef>
              <a:spcAft>
                <a:spcPts val="0"/>
              </a:spcAft>
              <a:buSzPts val="1100"/>
              <a:buChar char="■"/>
            </a:pPr>
            <a:r>
              <a:rPr lang="en"/>
              <a:t>Communities</a:t>
            </a:r>
            <a:r>
              <a:rPr lang="en"/>
              <a:t> built around tutoring, ASB, and club organizing </a:t>
            </a:r>
            <a:endParaRPr/>
          </a:p>
          <a:p>
            <a:pPr indent="-311150" lvl="0" marL="457200" rtl="0" algn="l">
              <a:spcBef>
                <a:spcPts val="0"/>
              </a:spcBef>
              <a:spcAft>
                <a:spcPts val="0"/>
              </a:spcAft>
              <a:buSzPts val="1300"/>
              <a:buChar char="●"/>
            </a:pPr>
            <a:r>
              <a:rPr lang="en"/>
              <a:t>Google </a:t>
            </a:r>
            <a:endParaRPr/>
          </a:p>
          <a:p>
            <a:pPr indent="-298450" lvl="1" marL="914400" rtl="0" algn="l">
              <a:spcBef>
                <a:spcPts val="0"/>
              </a:spcBef>
              <a:spcAft>
                <a:spcPts val="0"/>
              </a:spcAft>
              <a:buSzPts val="1100"/>
              <a:buChar char="○"/>
            </a:pPr>
            <a:r>
              <a:rPr lang="en"/>
              <a:t>Conglomeration based</a:t>
            </a:r>
            <a:endParaRPr/>
          </a:p>
          <a:p>
            <a:pPr indent="-311150" lvl="0" marL="457200" rtl="0" algn="l">
              <a:spcBef>
                <a:spcPts val="0"/>
              </a:spcBef>
              <a:spcAft>
                <a:spcPts val="0"/>
              </a:spcAft>
              <a:buSzPts val="1300"/>
              <a:buChar char="●"/>
            </a:pPr>
            <a:r>
              <a:rPr lang="en"/>
              <a:t>Nest Idea</a:t>
            </a:r>
            <a:endParaRPr/>
          </a:p>
          <a:p>
            <a:pPr indent="-311150" lvl="0" marL="457200" rtl="0" algn="l">
              <a:spcBef>
                <a:spcPts val="0"/>
              </a:spcBef>
              <a:spcAft>
                <a:spcPts val="0"/>
              </a:spcAft>
              <a:buSzPts val="1300"/>
              <a:buChar char="●"/>
            </a:pPr>
            <a:r>
              <a:rPr lang="en"/>
              <a:t>Students tutor </a:t>
            </a:r>
            <a:r>
              <a:rPr lang="en"/>
              <a:t>each other</a:t>
            </a:r>
            <a:endParaRPr/>
          </a:p>
          <a:p>
            <a:pPr indent="-311150" lvl="0" marL="457200" rtl="0" algn="l">
              <a:spcBef>
                <a:spcPts val="0"/>
              </a:spcBef>
              <a:spcAft>
                <a:spcPts val="0"/>
              </a:spcAft>
              <a:buSzPts val="1300"/>
              <a:buChar char="●"/>
            </a:pPr>
            <a:r>
              <a:rPr lang="en"/>
              <a:t>Social network</a:t>
            </a:r>
            <a:endParaRPr/>
          </a:p>
          <a:p>
            <a:pPr indent="-298450" lvl="1" marL="914400" rtl="0" algn="l">
              <a:spcBef>
                <a:spcPts val="0"/>
              </a:spcBef>
              <a:spcAft>
                <a:spcPts val="0"/>
              </a:spcAft>
              <a:buSzPts val="1100"/>
              <a:buChar char="○"/>
            </a:pPr>
            <a:r>
              <a:rPr lang="en"/>
              <a:t>Little bitcoin</a:t>
            </a:r>
            <a:endParaRPr/>
          </a:p>
          <a:p>
            <a:pPr indent="-311150" lvl="0" marL="457200" rtl="0" algn="l">
              <a:spcBef>
                <a:spcPts val="0"/>
              </a:spcBef>
              <a:spcAft>
                <a:spcPts val="0"/>
              </a:spcAft>
              <a:buSzPts val="1300"/>
              <a:buChar char="●"/>
            </a:pPr>
            <a:r>
              <a:rPr lang="en"/>
              <a:t>Erik </a:t>
            </a:r>
            <a:r>
              <a:rPr lang="en"/>
              <a:t>Boesen</a:t>
            </a:r>
            <a:endParaRPr/>
          </a:p>
          <a:p>
            <a:pPr indent="-298450" lvl="1" marL="914400" rtl="0" algn="l">
              <a:spcBef>
                <a:spcPts val="0"/>
              </a:spcBef>
              <a:spcAft>
                <a:spcPts val="0"/>
              </a:spcAft>
              <a:buSzPts val="1100"/>
              <a:buChar char="○"/>
            </a:pPr>
            <a:r>
              <a:rPr lang="en"/>
              <a:t>Made yale food app and super elitest</a:t>
            </a:r>
            <a:r>
              <a:rPr lang="en"/>
              <a:t> </a:t>
            </a:r>
            <a:endParaRPr/>
          </a:p>
          <a:p>
            <a:pPr indent="-298450" lvl="1" marL="914400" rtl="0" algn="l">
              <a:spcBef>
                <a:spcPts val="0"/>
              </a:spcBef>
              <a:spcAft>
                <a:spcPts val="0"/>
              </a:spcAft>
              <a:buSzPts val="1100"/>
              <a:buChar char="○"/>
            </a:pPr>
            <a:r>
              <a:rPr lang="en"/>
              <a:t>Trafficing → google maps but for food areas and bathrooms</a:t>
            </a:r>
            <a:endParaRPr/>
          </a:p>
          <a:p>
            <a:pPr indent="-298450" lvl="1" marL="914400" rtl="0" algn="l">
              <a:spcBef>
                <a:spcPts val="0"/>
              </a:spcBef>
              <a:spcAft>
                <a:spcPts val="0"/>
              </a:spcAft>
              <a:buSzPts val="1100"/>
              <a:buChar char="○"/>
            </a:pPr>
            <a:r>
              <a:rPr lang="en"/>
              <a:t>Liibrary &amp;&amp; trafficing for the entire school</a:t>
            </a:r>
            <a:endParaRPr/>
          </a:p>
          <a:p>
            <a:pPr indent="-311150" lvl="0" marL="457200" rtl="0" algn="l">
              <a:spcBef>
                <a:spcPts val="0"/>
              </a:spcBef>
              <a:spcAft>
                <a:spcPts val="0"/>
              </a:spcAft>
              <a:buSzPts val="1300"/>
              <a:buChar char="●"/>
            </a:pPr>
            <a:r>
              <a:rPr lang="en"/>
              <a:t>Senior prank template</a:t>
            </a:r>
            <a:endParaRPr/>
          </a:p>
          <a:p>
            <a:pPr indent="-298450" lvl="1" marL="914400" rtl="0" algn="l">
              <a:spcBef>
                <a:spcPts val="0"/>
              </a:spcBef>
              <a:spcAft>
                <a:spcPts val="0"/>
              </a:spcAft>
              <a:buSzPts val="1100"/>
              <a:buChar char="○"/>
            </a:pPr>
            <a:r>
              <a:rPr lang="en"/>
              <a:t>Crush list</a:t>
            </a:r>
            <a:endParaRPr/>
          </a:p>
          <a:p>
            <a:pPr indent="-298450" lvl="1" marL="914400" rtl="0" algn="l">
              <a:spcBef>
                <a:spcPts val="0"/>
              </a:spcBef>
              <a:spcAft>
                <a:spcPts val="0"/>
              </a:spcAft>
              <a:buSzPts val="1100"/>
              <a:buChar char="○"/>
            </a:pPr>
            <a:r>
              <a:rPr lang="en"/>
              <a:t>School based apps</a:t>
            </a:r>
            <a:endParaRPr/>
          </a:p>
          <a:p>
            <a:pPr indent="-298450" lvl="1" marL="914400" rtl="0" algn="l">
              <a:spcBef>
                <a:spcPts val="0"/>
              </a:spcBef>
              <a:spcAft>
                <a:spcPts val="0"/>
              </a:spcAft>
              <a:buSzPts val="1100"/>
              <a:buChar char="○"/>
            </a:pPr>
            <a:r>
              <a:rPr lang="en"/>
              <a:t>Senior </a:t>
            </a:r>
            <a:r>
              <a:rPr lang="en"/>
              <a:t>assassin</a:t>
            </a:r>
            <a:endParaRPr/>
          </a:p>
          <a:p>
            <a:pPr indent="-311150" lvl="0" marL="457200" rtl="0" algn="l">
              <a:spcBef>
                <a:spcPts val="0"/>
              </a:spcBef>
              <a:spcAft>
                <a:spcPts val="0"/>
              </a:spcAft>
              <a:buSzPts val="1300"/>
              <a:buChar char="●"/>
            </a:pPr>
            <a:r>
              <a:rPr lang="en"/>
              <a:t>Cheat sheet temlate</a:t>
            </a:r>
            <a:endParaRPr/>
          </a:p>
          <a:p>
            <a:pPr indent="-298450" lvl="1" marL="914400" rtl="0" algn="l">
              <a:spcBef>
                <a:spcPts val="0"/>
              </a:spcBef>
              <a:spcAft>
                <a:spcPts val="0"/>
              </a:spcAft>
              <a:buSzPts val="1100"/>
              <a:buChar char="○"/>
            </a:pPr>
            <a:r>
              <a:rPr lang="en"/>
              <a:t>Mr west class → quizlet	advertising parnters give free gift cards → sweat coin model</a:t>
            </a:r>
            <a:endParaRPr/>
          </a:p>
          <a:p>
            <a:pPr indent="-311150" lvl="0" marL="457200" rtl="0" algn="l">
              <a:spcBef>
                <a:spcPts val="0"/>
              </a:spcBef>
              <a:spcAft>
                <a:spcPts val="0"/>
              </a:spcAft>
              <a:buSzPts val="1300"/>
              <a:buChar char="●"/>
            </a:pPr>
            <a:r>
              <a:rPr lang="en"/>
              <a:t>Unique website for each</a:t>
            </a:r>
            <a:endParaRPr/>
          </a:p>
        </p:txBody>
      </p:sp>
      <p:sp>
        <p:nvSpPr>
          <p:cNvPr id="184" name="Google Shape;184;p17"/>
          <p:cNvSpPr txBox="1"/>
          <p:nvPr/>
        </p:nvSpPr>
        <p:spPr>
          <a:xfrm>
            <a:off x="5967425" y="683425"/>
            <a:ext cx="2559600" cy="45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6B26B"/>
                </a:solidFill>
                <a:latin typeface="Lato"/>
                <a:ea typeface="Lato"/>
                <a:cs typeface="Lato"/>
                <a:sym typeface="Lato"/>
              </a:rPr>
              <a:t>NO PARTICULAR ORDER</a:t>
            </a:r>
            <a:endParaRPr b="1">
              <a:solidFill>
                <a:srgbClr val="F6B26B"/>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8" name="Shape 188"/>
        <p:cNvGrpSpPr/>
        <p:nvPr/>
      </p:nvGrpSpPr>
      <p:grpSpPr>
        <a:xfrm>
          <a:off x="0" y="0"/>
          <a:ext cx="0" cy="0"/>
          <a:chOff x="0" y="0"/>
          <a:chExt cx="0" cy="0"/>
        </a:xfrm>
      </p:grpSpPr>
      <p:sp>
        <p:nvSpPr>
          <p:cNvPr id="189" name="Google Shape;189;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solution continued</a:t>
            </a:r>
            <a:endParaRPr/>
          </a:p>
        </p:txBody>
      </p:sp>
      <p:sp>
        <p:nvSpPr>
          <p:cNvPr id="190" name="Google Shape;190;p1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rPr lang="en"/>
              <a:t>Synergy pusd → ml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4" name="Shape 194"/>
        <p:cNvGrpSpPr/>
        <p:nvPr/>
      </p:nvGrpSpPr>
      <p:grpSpPr>
        <a:xfrm>
          <a:off x="0" y="0"/>
          <a:ext cx="0" cy="0"/>
          <a:chOff x="0" y="0"/>
          <a:chExt cx="0" cy="0"/>
        </a:xfrm>
      </p:grpSpPr>
      <p:sp>
        <p:nvSpPr>
          <p:cNvPr id="195" name="Google Shape;195;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Google Philos</a:t>
            </a:r>
            <a:r>
              <a:rPr lang="en"/>
              <a:t>ophy </a:t>
            </a:r>
            <a:endParaRPr/>
          </a:p>
        </p:txBody>
      </p:sp>
      <p:sp>
        <p:nvSpPr>
          <p:cNvPr id="196" name="Google Shape;196;p19"/>
          <p:cNvSpPr txBox="1"/>
          <p:nvPr/>
        </p:nvSpPr>
        <p:spPr>
          <a:xfrm>
            <a:off x="653500" y="2145600"/>
            <a:ext cx="3530400" cy="21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Community Builder</a:t>
            </a:r>
            <a:r>
              <a:rPr lang="en"/>
              <a:t>Builder</a:t>
            </a:r>
            <a:endParaRPr>
              <a:solidFill>
                <a:srgbClr val="FFFFFF"/>
              </a:solidFill>
            </a:endParaRPr>
          </a:p>
        </p:txBody>
      </p:sp>
      <p:sp>
        <p:nvSpPr>
          <p:cNvPr id="197" name="Google Shape;197;p19"/>
          <p:cNvSpPr txBox="1"/>
          <p:nvPr/>
        </p:nvSpPr>
        <p:spPr>
          <a:xfrm>
            <a:off x="4572000" y="1945153"/>
            <a:ext cx="3764400" cy="26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Platform Builder</a:t>
            </a:r>
            <a:endParaRPr>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1" name="Shape 201"/>
        <p:cNvGrpSpPr/>
        <p:nvPr/>
      </p:nvGrpSpPr>
      <p:grpSpPr>
        <a:xfrm>
          <a:off x="0" y="0"/>
          <a:ext cx="0" cy="0"/>
          <a:chOff x="0" y="0"/>
          <a:chExt cx="0" cy="0"/>
        </a:xfrm>
      </p:grpSpPr>
      <p:sp>
        <p:nvSpPr>
          <p:cNvPr id="202" name="Google Shape;202;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800"/>
              <a:t>Demo</a:t>
            </a:r>
            <a:endParaRPr b="1" sz="4800"/>
          </a:p>
        </p:txBody>
      </p:sp>
      <p:sp>
        <p:nvSpPr>
          <p:cNvPr id="203" name="Google Shape;203;p20"/>
          <p:cNvSpPr txBox="1"/>
          <p:nvPr/>
        </p:nvSpPr>
        <p:spPr>
          <a:xfrm>
            <a:off x="1297500" y="2312125"/>
            <a:ext cx="73383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latin typeface="Lato"/>
                <a:ea typeface="Lato"/>
                <a:cs typeface="Lato"/>
                <a:sym typeface="Lato"/>
              </a:rPr>
              <a:t>(INCLUDE ONCE A MINIMUM VIABLE PRODUCT EXISTS)</a:t>
            </a:r>
            <a:endParaRPr sz="3600">
              <a:solidFill>
                <a:srgbClr val="FFFFFF"/>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7" name="Shape 207"/>
        <p:cNvGrpSpPr/>
        <p:nvPr/>
      </p:nvGrpSpPr>
      <p:grpSpPr>
        <a:xfrm>
          <a:off x="0" y="0"/>
          <a:ext cx="0" cy="0"/>
          <a:chOff x="0" y="0"/>
          <a:chExt cx="0" cy="0"/>
        </a:xfrm>
      </p:grpSpPr>
      <p:sp>
        <p:nvSpPr>
          <p:cNvPr id="208" name="Google Shape;208;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Benefits</a:t>
            </a:r>
            <a:endParaRPr/>
          </a:p>
        </p:txBody>
      </p:sp>
      <p:sp>
        <p:nvSpPr>
          <p:cNvPr id="209" name="Google Shape;209;p21"/>
          <p:cNvSpPr txBox="1"/>
          <p:nvPr>
            <p:ph idx="1" type="body"/>
          </p:nvPr>
        </p:nvSpPr>
        <p:spPr>
          <a:xfrm>
            <a:off x="266050" y="1540075"/>
            <a:ext cx="3406500" cy="349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What developers gain:</a:t>
            </a:r>
            <a:endParaRPr sz="1800"/>
          </a:p>
          <a:p>
            <a:pPr indent="-342900" lvl="0" marL="457200" rtl="0" algn="l">
              <a:spcBef>
                <a:spcPts val="1600"/>
              </a:spcBef>
              <a:spcAft>
                <a:spcPts val="0"/>
              </a:spcAft>
              <a:buSzPts val="1800"/>
              <a:buChar char="●"/>
            </a:pPr>
            <a:r>
              <a:rPr lang="en" sz="1800"/>
              <a:t>Developing an educational platform is a fantastic college / resume builder</a:t>
            </a:r>
            <a:endParaRPr sz="1800"/>
          </a:p>
          <a:p>
            <a:pPr indent="-342900" lvl="0" marL="457200" rtl="0" algn="l">
              <a:spcBef>
                <a:spcPts val="0"/>
              </a:spcBef>
              <a:spcAft>
                <a:spcPts val="0"/>
              </a:spcAft>
              <a:buSzPts val="1800"/>
              <a:buChar char="●"/>
            </a:pPr>
            <a:r>
              <a:rPr lang="en" sz="1800"/>
              <a:t>Platform is built in Electron so easily portable from website to app</a:t>
            </a:r>
            <a:endParaRPr sz="1800"/>
          </a:p>
          <a:p>
            <a:pPr indent="-342900" lvl="0" marL="457200" rtl="0" algn="l">
              <a:spcBef>
                <a:spcPts val="0"/>
              </a:spcBef>
              <a:spcAft>
                <a:spcPts val="0"/>
              </a:spcAft>
              <a:buSzPts val="1800"/>
              <a:buChar char="●"/>
            </a:pPr>
            <a:r>
              <a:rPr lang="en" sz="1800"/>
              <a:t>Quick iterations through Agile DevOps</a:t>
            </a:r>
            <a:endParaRPr sz="1800"/>
          </a:p>
          <a:p>
            <a:pPr indent="-342900" lvl="0" marL="457200" rtl="0" algn="l">
              <a:spcBef>
                <a:spcPts val="0"/>
              </a:spcBef>
              <a:spcAft>
                <a:spcPts val="0"/>
              </a:spcAft>
              <a:buSzPts val="1800"/>
              <a:buChar char="●"/>
            </a:pPr>
            <a:r>
              <a:rPr lang="en" sz="1800"/>
              <a:t>Possibly $$$???</a:t>
            </a:r>
            <a:endParaRPr sz="1800"/>
          </a:p>
        </p:txBody>
      </p:sp>
      <p:sp>
        <p:nvSpPr>
          <p:cNvPr id="210" name="Google Shape;210;p21"/>
          <p:cNvSpPr txBox="1"/>
          <p:nvPr/>
        </p:nvSpPr>
        <p:spPr>
          <a:xfrm>
            <a:off x="4572000" y="1540075"/>
            <a:ext cx="4409100" cy="28074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800">
                <a:solidFill>
                  <a:srgbClr val="FFFFFF"/>
                </a:solidFill>
                <a:latin typeface="Lato"/>
                <a:ea typeface="Lato"/>
                <a:cs typeface="Lato"/>
                <a:sym typeface="Lato"/>
              </a:rPr>
              <a:t>What users gain:</a:t>
            </a:r>
            <a:endParaRPr sz="1800">
              <a:solidFill>
                <a:srgbClr val="FFFFFF"/>
              </a:solidFill>
              <a:latin typeface="Lato"/>
              <a:ea typeface="Lato"/>
              <a:cs typeface="Lato"/>
              <a:sym typeface="Lato"/>
            </a:endParaRPr>
          </a:p>
          <a:p>
            <a:pPr indent="-342900" lvl="0" marL="457200" rtl="0" algn="l">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Easily interact with friends</a:t>
            </a:r>
            <a:endParaRPr sz="1800">
              <a:solidFill>
                <a:srgbClr val="FFFFFF"/>
              </a:solidFill>
              <a:latin typeface="Lato"/>
              <a:ea typeface="Lato"/>
              <a:cs typeface="Lato"/>
              <a:sym typeface="Lato"/>
            </a:endParaRPr>
          </a:p>
          <a:p>
            <a:pPr indent="-342900" lvl="0" marL="457200" rtl="0" algn="l">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Effectively</a:t>
            </a:r>
            <a:r>
              <a:rPr lang="en" sz="1800">
                <a:solidFill>
                  <a:srgbClr val="FFFFFF"/>
                </a:solidFill>
                <a:latin typeface="Lato"/>
                <a:ea typeface="Lato"/>
                <a:cs typeface="Lato"/>
                <a:sym typeface="Lato"/>
              </a:rPr>
              <a:t> find help in school</a:t>
            </a:r>
            <a:endParaRPr sz="1800">
              <a:solidFill>
                <a:srgbClr val="FFFFFF"/>
              </a:solidFill>
              <a:latin typeface="Lato"/>
              <a:ea typeface="Lato"/>
              <a:cs typeface="Lato"/>
              <a:sym typeface="Lato"/>
            </a:endParaRPr>
          </a:p>
          <a:p>
            <a:pPr indent="-342900" lvl="0" marL="457200" rtl="0" algn="l">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Streamline club and volunteering </a:t>
            </a:r>
            <a:r>
              <a:rPr lang="en" sz="1800">
                <a:solidFill>
                  <a:srgbClr val="FFFFFF"/>
                </a:solidFill>
                <a:latin typeface="Lato"/>
                <a:ea typeface="Lato"/>
                <a:cs typeface="Lato"/>
                <a:sym typeface="Lato"/>
              </a:rPr>
              <a:t>activities</a:t>
            </a:r>
            <a:endParaRPr sz="1800">
              <a:solidFill>
                <a:srgbClr val="FFFFFF"/>
              </a:solidFill>
              <a:latin typeface="Lato"/>
              <a:ea typeface="Lato"/>
              <a:cs typeface="Lato"/>
              <a:sym typeface="Lato"/>
            </a:endParaRPr>
          </a:p>
          <a:p>
            <a:pPr indent="-342900" lvl="0" marL="457200" rtl="0" algn="l">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Allow socially inept to access school culture</a:t>
            </a:r>
            <a:endParaRPr sz="1800">
              <a:solidFill>
                <a:srgbClr val="FFFFFF"/>
              </a:solidFill>
              <a:latin typeface="Lato"/>
              <a:ea typeface="Lato"/>
              <a:cs typeface="Lato"/>
              <a:sym typeface="Lato"/>
            </a:endParaRPr>
          </a:p>
          <a:p>
            <a:pPr indent="-342900" lvl="0" marL="457200" rtl="0" algn="l">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Make school fun and interactive</a:t>
            </a:r>
            <a:endParaRPr sz="1800">
              <a:solidFill>
                <a:srgbClr val="FFFFFF"/>
              </a:solidFill>
              <a:latin typeface="Lato"/>
              <a:ea typeface="Lato"/>
              <a:cs typeface="Lato"/>
              <a:sym typeface="Lato"/>
            </a:endParaRPr>
          </a:p>
          <a:p>
            <a:pPr indent="-342900" lvl="0" marL="457200" rtl="0" algn="l">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GIVE POWER OF EDUCATION </a:t>
            </a:r>
            <a:r>
              <a:rPr lang="en" sz="1800">
                <a:solidFill>
                  <a:srgbClr val="FFFFFF"/>
                </a:solidFill>
                <a:latin typeface="Lato"/>
                <a:ea typeface="Lato"/>
                <a:cs typeface="Lato"/>
                <a:sym typeface="Lato"/>
              </a:rPr>
              <a:t>DECISIONS</a:t>
            </a:r>
            <a:r>
              <a:rPr lang="en" sz="1800">
                <a:solidFill>
                  <a:srgbClr val="FFFFFF"/>
                </a:solidFill>
                <a:latin typeface="Lato"/>
                <a:ea typeface="Lato"/>
                <a:cs typeface="Lato"/>
                <a:sym typeface="Lato"/>
              </a:rPr>
              <a:t> TO THE STUDENT BODY INSTEAD OF FACILITY</a:t>
            </a:r>
            <a:endParaRPr sz="1800">
              <a:solidFill>
                <a:srgbClr val="FFFFFF"/>
              </a:solidFill>
              <a:latin typeface="Lato"/>
              <a:ea typeface="Lato"/>
              <a:cs typeface="Lato"/>
              <a:sym typeface="Lato"/>
            </a:endParaRPr>
          </a:p>
        </p:txBody>
      </p:sp>
      <p:pic>
        <p:nvPicPr>
          <p:cNvPr id="211" name="Google Shape;211;p21"/>
          <p:cNvPicPr preferRelativeResize="0"/>
          <p:nvPr/>
        </p:nvPicPr>
        <p:blipFill>
          <a:blip r:embed="rId3">
            <a:alphaModFix/>
          </a:blip>
          <a:stretch>
            <a:fillRect/>
          </a:stretch>
        </p:blipFill>
        <p:spPr>
          <a:xfrm>
            <a:off x="6681350" y="53150"/>
            <a:ext cx="2010950" cy="1858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5" name="Shape 215"/>
        <p:cNvGrpSpPr/>
        <p:nvPr/>
      </p:nvGrpSpPr>
      <p:grpSpPr>
        <a:xfrm>
          <a:off x="0" y="0"/>
          <a:ext cx="0" cy="0"/>
          <a:chOff x="0" y="0"/>
          <a:chExt cx="0" cy="0"/>
        </a:xfrm>
      </p:grpSpPr>
      <p:sp>
        <p:nvSpPr>
          <p:cNvPr id="216" name="Google Shape;216;p22"/>
          <p:cNvSpPr/>
          <p:nvPr/>
        </p:nvSpPr>
        <p:spPr>
          <a:xfrm>
            <a:off x="4420050" y="4344950"/>
            <a:ext cx="1782300" cy="636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2"/>
          <p:cNvSpPr/>
          <p:nvPr/>
        </p:nvSpPr>
        <p:spPr>
          <a:xfrm>
            <a:off x="6744150" y="4281450"/>
            <a:ext cx="1117500" cy="259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2"/>
          <p:cNvSpPr/>
          <p:nvPr/>
        </p:nvSpPr>
        <p:spPr>
          <a:xfrm>
            <a:off x="5651950" y="3671850"/>
            <a:ext cx="1473300" cy="46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2"/>
          <p:cNvSpPr/>
          <p:nvPr/>
        </p:nvSpPr>
        <p:spPr>
          <a:xfrm>
            <a:off x="2747950" y="3349550"/>
            <a:ext cx="2391600" cy="914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2"/>
          <p:cNvSpPr/>
          <p:nvPr/>
        </p:nvSpPr>
        <p:spPr>
          <a:xfrm>
            <a:off x="937825" y="4391450"/>
            <a:ext cx="2527500" cy="691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p:nvPr/>
        </p:nvSpPr>
        <p:spPr>
          <a:xfrm>
            <a:off x="252825" y="3785300"/>
            <a:ext cx="15213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p:nvPr/>
        </p:nvSpPr>
        <p:spPr>
          <a:xfrm>
            <a:off x="7571500" y="1958650"/>
            <a:ext cx="1117500" cy="428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23" name="Google Shape;223;p22"/>
          <p:cNvSpPr/>
          <p:nvPr/>
        </p:nvSpPr>
        <p:spPr>
          <a:xfrm>
            <a:off x="6417825" y="1526025"/>
            <a:ext cx="12378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2"/>
          <p:cNvSpPr/>
          <p:nvPr/>
        </p:nvSpPr>
        <p:spPr>
          <a:xfrm>
            <a:off x="4807475" y="2006725"/>
            <a:ext cx="2211300" cy="508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2"/>
          <p:cNvSpPr/>
          <p:nvPr/>
        </p:nvSpPr>
        <p:spPr>
          <a:xfrm>
            <a:off x="2980800" y="1345750"/>
            <a:ext cx="2287800" cy="508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2"/>
          <p:cNvSpPr/>
          <p:nvPr/>
        </p:nvSpPr>
        <p:spPr>
          <a:xfrm>
            <a:off x="1382475" y="2355225"/>
            <a:ext cx="2307300" cy="259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2"/>
          <p:cNvSpPr/>
          <p:nvPr/>
        </p:nvSpPr>
        <p:spPr>
          <a:xfrm>
            <a:off x="204950" y="1702350"/>
            <a:ext cx="2391600" cy="3168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FFFFFF"/>
              </a:highlight>
            </a:endParaRPr>
          </a:p>
        </p:txBody>
      </p:sp>
      <p:sp>
        <p:nvSpPr>
          <p:cNvPr id="228" name="Google Shape;228;p22"/>
          <p:cNvSpPr txBox="1"/>
          <p:nvPr/>
        </p:nvSpPr>
        <p:spPr>
          <a:xfrm>
            <a:off x="137000" y="1646700"/>
            <a:ext cx="25275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User accounts &amp; email classes</a:t>
            </a:r>
            <a:endParaRPr>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29" name="Google Shape;229;p2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Milestones</a:t>
            </a:r>
            <a:endParaRPr/>
          </a:p>
        </p:txBody>
      </p:sp>
      <p:sp>
        <p:nvSpPr>
          <p:cNvPr id="230" name="Google Shape;230;p22"/>
          <p:cNvSpPr txBox="1"/>
          <p:nvPr>
            <p:ph idx="1" type="body"/>
          </p:nvPr>
        </p:nvSpPr>
        <p:spPr>
          <a:xfrm>
            <a:off x="59700" y="3180175"/>
            <a:ext cx="1237800" cy="316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June 20, 2018</a:t>
            </a:r>
            <a:endParaRPr/>
          </a:p>
        </p:txBody>
      </p:sp>
      <p:cxnSp>
        <p:nvCxnSpPr>
          <p:cNvPr id="231" name="Google Shape;231;p22"/>
          <p:cNvCxnSpPr/>
          <p:nvPr/>
        </p:nvCxnSpPr>
        <p:spPr>
          <a:xfrm>
            <a:off x="793625" y="3016200"/>
            <a:ext cx="7583100" cy="0"/>
          </a:xfrm>
          <a:prstGeom prst="straightConnector1">
            <a:avLst/>
          </a:prstGeom>
          <a:noFill/>
          <a:ln cap="flat" cmpd="sng" w="76200">
            <a:solidFill>
              <a:schemeClr val="dk2"/>
            </a:solidFill>
            <a:prstDash val="solid"/>
            <a:round/>
            <a:headEnd len="med" w="med" type="none"/>
            <a:tailEnd len="med" w="med" type="triangle"/>
          </a:ln>
        </p:spPr>
      </p:cxnSp>
      <p:sp>
        <p:nvSpPr>
          <p:cNvPr id="232" name="Google Shape;232;p22"/>
          <p:cNvSpPr txBox="1"/>
          <p:nvPr>
            <p:ph idx="1" type="body"/>
          </p:nvPr>
        </p:nvSpPr>
        <p:spPr>
          <a:xfrm>
            <a:off x="7530775" y="3272475"/>
            <a:ext cx="1237800" cy="316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Dec 1, 2018</a:t>
            </a:r>
            <a:endParaRPr/>
          </a:p>
        </p:txBody>
      </p:sp>
      <p:sp>
        <p:nvSpPr>
          <p:cNvPr id="233" name="Google Shape;233;p22"/>
          <p:cNvSpPr txBox="1"/>
          <p:nvPr/>
        </p:nvSpPr>
        <p:spPr>
          <a:xfrm>
            <a:off x="7530775" y="1854575"/>
            <a:ext cx="1437000" cy="3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School safety component</a:t>
            </a:r>
            <a:endParaRPr>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34" name="Google Shape;234;p22"/>
          <p:cNvSpPr txBox="1"/>
          <p:nvPr/>
        </p:nvSpPr>
        <p:spPr>
          <a:xfrm>
            <a:off x="204950" y="3727500"/>
            <a:ext cx="17823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Instant messenger</a:t>
            </a:r>
            <a:endParaRPr>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35" name="Google Shape;235;p22"/>
          <p:cNvSpPr txBox="1"/>
          <p:nvPr/>
        </p:nvSpPr>
        <p:spPr>
          <a:xfrm>
            <a:off x="1382475" y="2303613"/>
            <a:ext cx="25275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Personalized school website</a:t>
            </a:r>
            <a:endParaRPr>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36" name="Google Shape;236;p22"/>
          <p:cNvSpPr txBox="1"/>
          <p:nvPr/>
        </p:nvSpPr>
        <p:spPr>
          <a:xfrm>
            <a:off x="936100" y="4321050"/>
            <a:ext cx="25275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Cheatsheet templater / forum</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Ability to share music playlists and memes</a:t>
            </a:r>
            <a:endParaRPr>
              <a:latin typeface="Lato"/>
              <a:ea typeface="Lato"/>
              <a:cs typeface="Lato"/>
              <a:sym typeface="Lato"/>
            </a:endParaRPr>
          </a:p>
        </p:txBody>
      </p:sp>
      <p:sp>
        <p:nvSpPr>
          <p:cNvPr id="237" name="Google Shape;237;p22"/>
          <p:cNvSpPr txBox="1"/>
          <p:nvPr/>
        </p:nvSpPr>
        <p:spPr>
          <a:xfrm>
            <a:off x="2662863" y="3271997"/>
            <a:ext cx="2527500" cy="5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Add file sharing and Google API </a:t>
            </a:r>
            <a:r>
              <a:rPr lang="en">
                <a:latin typeface="Lato"/>
                <a:ea typeface="Lato"/>
                <a:cs typeface="Lato"/>
                <a:sym typeface="Lato"/>
              </a:rPr>
              <a:t>capability</a:t>
            </a:r>
            <a:r>
              <a:rPr lang="en">
                <a:latin typeface="Lato"/>
                <a:ea typeface="Lato"/>
                <a:cs typeface="Lato"/>
                <a:sym typeface="Lato"/>
              </a:rPr>
              <a:t> to messenger</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Add personal emoji's for each school</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
        <p:nvSpPr>
          <p:cNvPr id="238" name="Google Shape;238;p22"/>
          <p:cNvSpPr txBox="1"/>
          <p:nvPr/>
        </p:nvSpPr>
        <p:spPr>
          <a:xfrm>
            <a:off x="2969325" y="1307875"/>
            <a:ext cx="25275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Tutoring, club council, club organizing splash page</a:t>
            </a:r>
            <a:endParaRPr>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39" name="Google Shape;239;p22"/>
          <p:cNvSpPr txBox="1"/>
          <p:nvPr/>
        </p:nvSpPr>
        <p:spPr>
          <a:xfrm>
            <a:off x="4371500" y="4234125"/>
            <a:ext cx="2527500" cy="8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Community vote on moderators - emulate Stackoverflow</a:t>
            </a:r>
            <a:endParaRPr>
              <a:latin typeface="Lato"/>
              <a:ea typeface="Lato"/>
              <a:cs typeface="Lato"/>
              <a:sym typeface="Lato"/>
            </a:endParaRPr>
          </a:p>
        </p:txBody>
      </p:sp>
      <p:sp>
        <p:nvSpPr>
          <p:cNvPr id="240" name="Google Shape;240;p22"/>
          <p:cNvSpPr txBox="1"/>
          <p:nvPr/>
        </p:nvSpPr>
        <p:spPr>
          <a:xfrm>
            <a:off x="4807475" y="1973200"/>
            <a:ext cx="2527500" cy="6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Fun stuff → senior prank, crush list, senior </a:t>
            </a:r>
            <a:r>
              <a:rPr lang="en">
                <a:latin typeface="Lato"/>
                <a:ea typeface="Lato"/>
                <a:cs typeface="Lato"/>
                <a:sym typeface="Lato"/>
              </a:rPr>
              <a:t>assassin</a:t>
            </a:r>
            <a:endParaRPr>
              <a:latin typeface="Lato"/>
              <a:ea typeface="Lato"/>
              <a:cs typeface="Lato"/>
              <a:sym typeface="Lato"/>
            </a:endParaRPr>
          </a:p>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241" name="Google Shape;241;p22"/>
          <p:cNvSpPr txBox="1"/>
          <p:nvPr/>
        </p:nvSpPr>
        <p:spPr>
          <a:xfrm>
            <a:off x="5617675" y="3589275"/>
            <a:ext cx="1521300" cy="6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Synergy Machine Learning</a:t>
            </a:r>
            <a:endParaRPr>
              <a:latin typeface="Lato"/>
              <a:ea typeface="Lato"/>
              <a:cs typeface="Lato"/>
              <a:sym typeface="Lato"/>
            </a:endParaRPr>
          </a:p>
        </p:txBody>
      </p:sp>
      <p:sp>
        <p:nvSpPr>
          <p:cNvPr id="242" name="Google Shape;242;p22"/>
          <p:cNvSpPr txBox="1"/>
          <p:nvPr/>
        </p:nvSpPr>
        <p:spPr>
          <a:xfrm>
            <a:off x="6354625" y="1426463"/>
            <a:ext cx="13011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Gift Card Idea</a:t>
            </a:r>
            <a:endParaRPr>
              <a:latin typeface="Lato"/>
              <a:ea typeface="Lato"/>
              <a:cs typeface="Lato"/>
              <a:sym typeface="Lato"/>
            </a:endParaRPr>
          </a:p>
        </p:txBody>
      </p:sp>
      <p:sp>
        <p:nvSpPr>
          <p:cNvPr id="243" name="Google Shape;243;p22"/>
          <p:cNvSpPr txBox="1"/>
          <p:nvPr/>
        </p:nvSpPr>
        <p:spPr>
          <a:xfrm>
            <a:off x="6670700" y="4177813"/>
            <a:ext cx="13011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Food mapping</a:t>
            </a:r>
            <a:endParaRPr>
              <a:latin typeface="Lato"/>
              <a:ea typeface="Lato"/>
              <a:cs typeface="Lato"/>
              <a:sym typeface="Lato"/>
            </a:endParaRPr>
          </a:p>
        </p:txBody>
      </p:sp>
      <p:cxnSp>
        <p:nvCxnSpPr>
          <p:cNvPr id="244" name="Google Shape;244;p22"/>
          <p:cNvCxnSpPr/>
          <p:nvPr/>
        </p:nvCxnSpPr>
        <p:spPr>
          <a:xfrm>
            <a:off x="1118050" y="2033550"/>
            <a:ext cx="12600" cy="927000"/>
          </a:xfrm>
          <a:prstGeom prst="straightConnector1">
            <a:avLst/>
          </a:prstGeom>
          <a:noFill/>
          <a:ln cap="flat" cmpd="sng" w="28575">
            <a:solidFill>
              <a:schemeClr val="dk2"/>
            </a:solidFill>
            <a:prstDash val="solid"/>
            <a:round/>
            <a:headEnd len="med" w="med" type="none"/>
            <a:tailEnd len="med" w="med" type="triangle"/>
          </a:ln>
        </p:spPr>
      </p:cxnSp>
      <p:cxnSp>
        <p:nvCxnSpPr>
          <p:cNvPr id="245" name="Google Shape;245;p22"/>
          <p:cNvCxnSpPr/>
          <p:nvPr/>
        </p:nvCxnSpPr>
        <p:spPr>
          <a:xfrm>
            <a:off x="1867350" y="2663213"/>
            <a:ext cx="0" cy="304800"/>
          </a:xfrm>
          <a:prstGeom prst="straightConnector1">
            <a:avLst/>
          </a:prstGeom>
          <a:noFill/>
          <a:ln cap="flat" cmpd="sng" w="28575">
            <a:solidFill>
              <a:schemeClr val="dk2"/>
            </a:solidFill>
            <a:prstDash val="solid"/>
            <a:round/>
            <a:headEnd len="med" w="med" type="none"/>
            <a:tailEnd len="med" w="med" type="triangle"/>
          </a:ln>
        </p:spPr>
      </p:cxnSp>
      <p:cxnSp>
        <p:nvCxnSpPr>
          <p:cNvPr id="246" name="Google Shape;246;p22"/>
          <p:cNvCxnSpPr/>
          <p:nvPr/>
        </p:nvCxnSpPr>
        <p:spPr>
          <a:xfrm flipH="1" rot="10800000">
            <a:off x="1511750" y="3113050"/>
            <a:ext cx="12600" cy="647700"/>
          </a:xfrm>
          <a:prstGeom prst="straightConnector1">
            <a:avLst/>
          </a:prstGeom>
          <a:noFill/>
          <a:ln cap="flat" cmpd="sng" w="28575">
            <a:solidFill>
              <a:schemeClr val="dk2"/>
            </a:solidFill>
            <a:prstDash val="solid"/>
            <a:round/>
            <a:headEnd len="med" w="med" type="none"/>
            <a:tailEnd len="med" w="med" type="triangle"/>
          </a:ln>
        </p:spPr>
      </p:cxnSp>
      <p:cxnSp>
        <p:nvCxnSpPr>
          <p:cNvPr id="247" name="Google Shape;247;p22"/>
          <p:cNvCxnSpPr>
            <a:stCxn id="236" idx="0"/>
          </p:cNvCxnSpPr>
          <p:nvPr/>
        </p:nvCxnSpPr>
        <p:spPr>
          <a:xfrm flipH="1" rot="10800000">
            <a:off x="2199850" y="3103050"/>
            <a:ext cx="35700" cy="1218000"/>
          </a:xfrm>
          <a:prstGeom prst="straightConnector1">
            <a:avLst/>
          </a:prstGeom>
          <a:noFill/>
          <a:ln cap="flat" cmpd="sng" w="28575">
            <a:solidFill>
              <a:schemeClr val="dk2"/>
            </a:solidFill>
            <a:prstDash val="solid"/>
            <a:round/>
            <a:headEnd len="med" w="med" type="none"/>
            <a:tailEnd len="med" w="med" type="triangle"/>
          </a:ln>
        </p:spPr>
      </p:cxnSp>
      <p:cxnSp>
        <p:nvCxnSpPr>
          <p:cNvPr id="248" name="Google Shape;248;p22"/>
          <p:cNvCxnSpPr/>
          <p:nvPr/>
        </p:nvCxnSpPr>
        <p:spPr>
          <a:xfrm>
            <a:off x="3886650" y="1871275"/>
            <a:ext cx="0" cy="1066800"/>
          </a:xfrm>
          <a:prstGeom prst="straightConnector1">
            <a:avLst/>
          </a:prstGeom>
          <a:noFill/>
          <a:ln cap="flat" cmpd="sng" w="28575">
            <a:solidFill>
              <a:schemeClr val="dk2"/>
            </a:solidFill>
            <a:prstDash val="solid"/>
            <a:round/>
            <a:headEnd len="med" w="med" type="none"/>
            <a:tailEnd len="med" w="med" type="triangle"/>
          </a:ln>
        </p:spPr>
      </p:cxnSp>
      <p:cxnSp>
        <p:nvCxnSpPr>
          <p:cNvPr id="249" name="Google Shape;249;p22"/>
          <p:cNvCxnSpPr/>
          <p:nvPr/>
        </p:nvCxnSpPr>
        <p:spPr>
          <a:xfrm flipH="1" rot="10800000">
            <a:off x="4229550" y="3077875"/>
            <a:ext cx="25500" cy="279300"/>
          </a:xfrm>
          <a:prstGeom prst="straightConnector1">
            <a:avLst/>
          </a:prstGeom>
          <a:noFill/>
          <a:ln cap="flat" cmpd="sng" w="9525">
            <a:solidFill>
              <a:schemeClr val="dk2"/>
            </a:solidFill>
            <a:prstDash val="solid"/>
            <a:round/>
            <a:headEnd len="med" w="med" type="none"/>
            <a:tailEnd len="med" w="med" type="triangle"/>
          </a:ln>
        </p:spPr>
      </p:cxnSp>
      <p:cxnSp>
        <p:nvCxnSpPr>
          <p:cNvPr id="250" name="Google Shape;250;p22"/>
          <p:cNvCxnSpPr/>
          <p:nvPr/>
        </p:nvCxnSpPr>
        <p:spPr>
          <a:xfrm rot="10800000">
            <a:off x="5372550" y="3050875"/>
            <a:ext cx="0" cy="1258800"/>
          </a:xfrm>
          <a:prstGeom prst="straightConnector1">
            <a:avLst/>
          </a:prstGeom>
          <a:noFill/>
          <a:ln cap="flat" cmpd="sng" w="28575">
            <a:solidFill>
              <a:schemeClr val="dk2"/>
            </a:solidFill>
            <a:prstDash val="solid"/>
            <a:round/>
            <a:headEnd len="med" w="med" type="none"/>
            <a:tailEnd len="med" w="med" type="triangle"/>
          </a:ln>
        </p:spPr>
      </p:cxnSp>
      <p:cxnSp>
        <p:nvCxnSpPr>
          <p:cNvPr id="251" name="Google Shape;251;p22"/>
          <p:cNvCxnSpPr/>
          <p:nvPr/>
        </p:nvCxnSpPr>
        <p:spPr>
          <a:xfrm>
            <a:off x="5740850" y="2528850"/>
            <a:ext cx="0" cy="457200"/>
          </a:xfrm>
          <a:prstGeom prst="straightConnector1">
            <a:avLst/>
          </a:prstGeom>
          <a:noFill/>
          <a:ln cap="flat" cmpd="sng" w="28575">
            <a:solidFill>
              <a:schemeClr val="dk2"/>
            </a:solidFill>
            <a:prstDash val="solid"/>
            <a:round/>
            <a:headEnd len="med" w="med" type="none"/>
            <a:tailEnd len="med" w="med" type="triangle"/>
          </a:ln>
        </p:spPr>
      </p:cxnSp>
      <p:cxnSp>
        <p:nvCxnSpPr>
          <p:cNvPr id="252" name="Google Shape;252;p22"/>
          <p:cNvCxnSpPr/>
          <p:nvPr/>
        </p:nvCxnSpPr>
        <p:spPr>
          <a:xfrm rot="10800000">
            <a:off x="6058450" y="3062250"/>
            <a:ext cx="12600" cy="533400"/>
          </a:xfrm>
          <a:prstGeom prst="straightConnector1">
            <a:avLst/>
          </a:prstGeom>
          <a:noFill/>
          <a:ln cap="flat" cmpd="sng" w="28575">
            <a:solidFill>
              <a:schemeClr val="dk2"/>
            </a:solidFill>
            <a:prstDash val="solid"/>
            <a:round/>
            <a:headEnd len="med" w="med" type="none"/>
            <a:tailEnd len="med" w="med" type="triangle"/>
          </a:ln>
        </p:spPr>
      </p:cxnSp>
      <p:cxnSp>
        <p:nvCxnSpPr>
          <p:cNvPr id="253" name="Google Shape;253;p22"/>
          <p:cNvCxnSpPr/>
          <p:nvPr/>
        </p:nvCxnSpPr>
        <p:spPr>
          <a:xfrm rot="10800000">
            <a:off x="7315550" y="3074850"/>
            <a:ext cx="12000" cy="1133400"/>
          </a:xfrm>
          <a:prstGeom prst="straightConnector1">
            <a:avLst/>
          </a:prstGeom>
          <a:noFill/>
          <a:ln cap="flat" cmpd="sng" w="28575">
            <a:solidFill>
              <a:schemeClr val="dk2"/>
            </a:solidFill>
            <a:prstDash val="solid"/>
            <a:round/>
            <a:headEnd len="med" w="med" type="none"/>
            <a:tailEnd len="med" w="med" type="triangle"/>
          </a:ln>
        </p:spPr>
      </p:cxnSp>
      <p:cxnSp>
        <p:nvCxnSpPr>
          <p:cNvPr id="254" name="Google Shape;254;p22"/>
          <p:cNvCxnSpPr/>
          <p:nvPr/>
        </p:nvCxnSpPr>
        <p:spPr>
          <a:xfrm>
            <a:off x="7125150" y="1843050"/>
            <a:ext cx="25500" cy="1104900"/>
          </a:xfrm>
          <a:prstGeom prst="straightConnector1">
            <a:avLst/>
          </a:prstGeom>
          <a:noFill/>
          <a:ln cap="flat" cmpd="sng" w="28575">
            <a:solidFill>
              <a:schemeClr val="dk2"/>
            </a:solidFill>
            <a:prstDash val="solid"/>
            <a:round/>
            <a:headEnd len="med" w="med" type="none"/>
            <a:tailEnd len="med" w="med" type="triangle"/>
          </a:ln>
        </p:spPr>
      </p:cxnSp>
      <p:cxnSp>
        <p:nvCxnSpPr>
          <p:cNvPr id="255" name="Google Shape;255;p22"/>
          <p:cNvCxnSpPr/>
          <p:nvPr/>
        </p:nvCxnSpPr>
        <p:spPr>
          <a:xfrm>
            <a:off x="7658550" y="2389150"/>
            <a:ext cx="25500" cy="5715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9" name="Shape 259"/>
        <p:cNvGrpSpPr/>
        <p:nvPr/>
      </p:nvGrpSpPr>
      <p:grpSpPr>
        <a:xfrm>
          <a:off x="0" y="0"/>
          <a:ext cx="0" cy="0"/>
          <a:chOff x="0" y="0"/>
          <a:chExt cx="0" cy="0"/>
        </a:xfrm>
      </p:grpSpPr>
      <p:sp>
        <p:nvSpPr>
          <p:cNvPr id="260" name="Google Shape;260;p2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Market</a:t>
            </a:r>
            <a:endParaRPr/>
          </a:p>
        </p:txBody>
      </p:sp>
      <p:sp>
        <p:nvSpPr>
          <p:cNvPr id="261" name="Google Shape;261;p23"/>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sz="2400"/>
              <a:t>Our audience are students in institutions</a:t>
            </a:r>
            <a:endParaRPr sz="2400"/>
          </a:p>
          <a:p>
            <a:pPr indent="-381000" lvl="1" marL="914400" rtl="0" algn="l">
              <a:spcBef>
                <a:spcPts val="0"/>
              </a:spcBef>
              <a:spcAft>
                <a:spcPts val="0"/>
              </a:spcAft>
              <a:buSzPts val="2400"/>
              <a:buChar char="○"/>
            </a:pPr>
            <a:r>
              <a:rPr lang="en" sz="2400"/>
              <a:t>College</a:t>
            </a:r>
            <a:endParaRPr sz="2400"/>
          </a:p>
          <a:p>
            <a:pPr indent="-381000" lvl="1" marL="914400" rtl="0" algn="l">
              <a:spcBef>
                <a:spcPts val="0"/>
              </a:spcBef>
              <a:spcAft>
                <a:spcPts val="0"/>
              </a:spcAft>
              <a:buSzPts val="2400"/>
              <a:buChar char="○"/>
            </a:pPr>
            <a:r>
              <a:rPr lang="en" sz="2400"/>
              <a:t>High School</a:t>
            </a:r>
            <a:endParaRPr sz="2400"/>
          </a:p>
          <a:p>
            <a:pPr indent="-381000" lvl="0" marL="457200" rtl="0" algn="l">
              <a:spcBef>
                <a:spcPts val="0"/>
              </a:spcBef>
              <a:spcAft>
                <a:spcPts val="0"/>
              </a:spcAft>
              <a:buSzPts val="2400"/>
              <a:buChar char="●"/>
            </a:pPr>
            <a:r>
              <a:rPr lang="en" sz="2400"/>
              <a:t>Most education companies target educators</a:t>
            </a:r>
            <a:endParaRPr sz="2400"/>
          </a:p>
          <a:p>
            <a:pPr indent="-381000" lvl="0" marL="457200" rtl="0" algn="l">
              <a:spcBef>
                <a:spcPts val="0"/>
              </a:spcBef>
              <a:spcAft>
                <a:spcPts val="0"/>
              </a:spcAft>
              <a:buSzPts val="2400"/>
              <a:buChar char="●"/>
            </a:pPr>
            <a:r>
              <a:rPr b="1" lang="en" sz="2400"/>
              <a:t>Large untapped audience</a:t>
            </a:r>
            <a:endParaRPr b="1" sz="2400"/>
          </a:p>
        </p:txBody>
      </p:sp>
      <p:sp>
        <p:nvSpPr>
          <p:cNvPr id="262" name="Google Shape;262;p23"/>
          <p:cNvSpPr txBox="1"/>
          <p:nvPr/>
        </p:nvSpPr>
        <p:spPr>
          <a:xfrm>
            <a:off x="1324500" y="4153650"/>
            <a:ext cx="6984900" cy="8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highlight>
                  <a:srgbClr val="CCCCCC"/>
                </a:highlight>
                <a:latin typeface="Lato"/>
                <a:ea typeface="Lato"/>
                <a:cs typeface="Lato"/>
                <a:sym typeface="Lato"/>
              </a:rPr>
              <a:t>WE </a:t>
            </a:r>
            <a:r>
              <a:rPr lang="en" sz="3000">
                <a:highlight>
                  <a:srgbClr val="CCCCCC"/>
                </a:highlight>
                <a:latin typeface="Lato"/>
                <a:ea typeface="Lato"/>
                <a:cs typeface="Lato"/>
                <a:sym typeface="Lato"/>
              </a:rPr>
              <a:t>DON'T SOLVE EDUCATOR'S ISSUES</a:t>
            </a:r>
            <a:endParaRPr sz="3000">
              <a:highlight>
                <a:srgbClr val="CCCCCC"/>
              </a:highlight>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6" name="Shape 266"/>
        <p:cNvGrpSpPr/>
        <p:nvPr/>
      </p:nvGrpSpPr>
      <p:grpSpPr>
        <a:xfrm>
          <a:off x="0" y="0"/>
          <a:ext cx="0" cy="0"/>
          <a:chOff x="0" y="0"/>
          <a:chExt cx="0" cy="0"/>
        </a:xfrm>
      </p:grpSpPr>
      <p:sp>
        <p:nvSpPr>
          <p:cNvPr id="267" name="Google Shape;267;p24"/>
          <p:cNvSpPr txBox="1"/>
          <p:nvPr/>
        </p:nvSpPr>
        <p:spPr>
          <a:xfrm>
            <a:off x="2808900" y="4363450"/>
            <a:ext cx="32958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https://www.youtube.com/watch?v=-90iRQbd0fg</a:t>
            </a:r>
            <a:endParaRPr>
              <a:latin typeface="Lato"/>
              <a:ea typeface="Lato"/>
              <a:cs typeface="Lato"/>
              <a:sym typeface="Lato"/>
            </a:endParaRPr>
          </a:p>
        </p:txBody>
      </p:sp>
      <p:pic>
        <p:nvPicPr>
          <p:cNvPr id="268" name="Google Shape;268;p24" title="I already fired you! (Jobs)">
            <a:hlinkClick r:id="rId4"/>
          </p:cNvPr>
          <p:cNvPicPr preferRelativeResize="0"/>
          <p:nvPr/>
        </p:nvPicPr>
        <p:blipFill>
          <a:blip r:embed="rId5">
            <a:alphaModFix/>
          </a:blip>
          <a:stretch>
            <a:fillRect/>
          </a:stretch>
        </p:blipFill>
        <p:spPr>
          <a:xfrm>
            <a:off x="1994638" y="497400"/>
            <a:ext cx="5154725" cy="3866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2" name="Shape 272"/>
        <p:cNvGrpSpPr/>
        <p:nvPr/>
      </p:nvGrpSpPr>
      <p:grpSpPr>
        <a:xfrm>
          <a:off x="0" y="0"/>
          <a:ext cx="0" cy="0"/>
          <a:chOff x="0" y="0"/>
          <a:chExt cx="0" cy="0"/>
        </a:xfrm>
      </p:grpSpPr>
      <p:sp>
        <p:nvSpPr>
          <p:cNvPr id="273" name="Google Shape;273;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 Situation</a:t>
            </a:r>
            <a:endParaRPr/>
          </a:p>
        </p:txBody>
      </p:sp>
      <p:sp>
        <p:nvSpPr>
          <p:cNvPr id="274" name="Google Shape;274;p25"/>
          <p:cNvSpPr txBox="1"/>
          <p:nvPr>
            <p:ph idx="1" type="body"/>
          </p:nvPr>
        </p:nvSpPr>
        <p:spPr>
          <a:xfrm>
            <a:off x="1297500" y="1567550"/>
            <a:ext cx="7038900" cy="17361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sz="2400"/>
              <a:t>Education reform is a hot topic</a:t>
            </a:r>
            <a:endParaRPr sz="2400"/>
          </a:p>
          <a:p>
            <a:pPr indent="-381000" lvl="1" marL="914400" rtl="0" algn="l">
              <a:spcBef>
                <a:spcPts val="0"/>
              </a:spcBef>
              <a:spcAft>
                <a:spcPts val="0"/>
              </a:spcAft>
              <a:buSzPts val="2400"/>
              <a:buChar char="○"/>
            </a:pPr>
            <a:r>
              <a:rPr lang="en" sz="2400"/>
              <a:t>New school </a:t>
            </a:r>
            <a:r>
              <a:rPr lang="en" sz="2400"/>
              <a:t>curriculums</a:t>
            </a:r>
            <a:r>
              <a:rPr lang="en" sz="2400"/>
              <a:t> are being designed</a:t>
            </a:r>
            <a:endParaRPr sz="2400"/>
          </a:p>
          <a:p>
            <a:pPr indent="-381000" lvl="1" marL="914400" rtl="0" algn="l">
              <a:spcBef>
                <a:spcPts val="0"/>
              </a:spcBef>
              <a:spcAft>
                <a:spcPts val="0"/>
              </a:spcAft>
              <a:buSzPts val="2400"/>
              <a:buChar char="○"/>
            </a:pPr>
            <a:r>
              <a:rPr lang="en" sz="2400"/>
              <a:t>Political debates over common core</a:t>
            </a:r>
            <a:endParaRPr sz="2400"/>
          </a:p>
          <a:p>
            <a:pPr indent="-381000" lvl="1" marL="914400" rtl="0" algn="l">
              <a:spcBef>
                <a:spcPts val="0"/>
              </a:spcBef>
              <a:spcAft>
                <a:spcPts val="0"/>
              </a:spcAft>
              <a:buSzPts val="2400"/>
              <a:buChar char="○"/>
            </a:pPr>
            <a:r>
              <a:rPr lang="en" sz="2400"/>
              <a:t>Super progressive "High Tech High School"</a:t>
            </a:r>
            <a:endParaRPr sz="2400"/>
          </a:p>
        </p:txBody>
      </p:sp>
      <p:pic>
        <p:nvPicPr>
          <p:cNvPr id="275" name="Google Shape;275;p25"/>
          <p:cNvPicPr preferRelativeResize="0"/>
          <p:nvPr/>
        </p:nvPicPr>
        <p:blipFill>
          <a:blip r:embed="rId3">
            <a:alphaModFix/>
          </a:blip>
          <a:stretch>
            <a:fillRect/>
          </a:stretch>
        </p:blipFill>
        <p:spPr>
          <a:xfrm>
            <a:off x="3378000" y="3410700"/>
            <a:ext cx="2388000" cy="1653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9" name="Shape 279"/>
        <p:cNvGrpSpPr/>
        <p:nvPr/>
      </p:nvGrpSpPr>
      <p:grpSpPr>
        <a:xfrm>
          <a:off x="0" y="0"/>
          <a:ext cx="0" cy="0"/>
          <a:chOff x="0" y="0"/>
          <a:chExt cx="0" cy="0"/>
        </a:xfrm>
      </p:grpSpPr>
      <p:sp>
        <p:nvSpPr>
          <p:cNvPr id="280" name="Google Shape;280;p26"/>
          <p:cNvSpPr txBox="1"/>
          <p:nvPr/>
        </p:nvSpPr>
        <p:spPr>
          <a:xfrm>
            <a:off x="2808900" y="4363450"/>
            <a:ext cx="32958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https://www.youtube.com/watch?v=xP-ZwmCPBAs</a:t>
            </a:r>
            <a:endParaRPr>
              <a:latin typeface="Lato"/>
              <a:ea typeface="Lato"/>
              <a:cs typeface="Lato"/>
              <a:sym typeface="Lato"/>
            </a:endParaRPr>
          </a:p>
        </p:txBody>
      </p:sp>
      <p:sp>
        <p:nvSpPr>
          <p:cNvPr id="281" name="Google Shape;281;p26"/>
          <p:cNvSpPr txBox="1"/>
          <p:nvPr/>
        </p:nvSpPr>
        <p:spPr>
          <a:xfrm>
            <a:off x="303075" y="1872025"/>
            <a:ext cx="16092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Lato"/>
                <a:ea typeface="Lato"/>
                <a:cs typeface="Lato"/>
                <a:sym typeface="Lato"/>
              </a:rPr>
              <a:t>What do people want</a:t>
            </a:r>
            <a:endParaRPr b="1" sz="1800">
              <a:solidFill>
                <a:srgbClr val="FFFFFF"/>
              </a:solidFill>
              <a:latin typeface="Lato"/>
              <a:ea typeface="Lato"/>
              <a:cs typeface="Lato"/>
              <a:sym typeface="Lato"/>
            </a:endParaRPr>
          </a:p>
        </p:txBody>
      </p:sp>
      <p:pic>
        <p:nvPicPr>
          <p:cNvPr descr="Scene from Limitless in which the main character Eddie takes a pill called NZT for the first time which allows him to unlock 100% of his &quot;brain power.&quot;" id="282" name="Google Shape;282;p26" title="Limitless Pill Scene">
            <a:hlinkClick r:id="rId4"/>
          </p:cNvPr>
          <p:cNvPicPr preferRelativeResize="0"/>
          <p:nvPr/>
        </p:nvPicPr>
        <p:blipFill>
          <a:blip r:embed="rId5">
            <a:alphaModFix/>
          </a:blip>
          <a:stretch>
            <a:fillRect/>
          </a:stretch>
        </p:blipFill>
        <p:spPr>
          <a:xfrm>
            <a:off x="2272250" y="407113"/>
            <a:ext cx="5048026" cy="3786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6" name="Shape 286"/>
        <p:cNvGrpSpPr/>
        <p:nvPr/>
      </p:nvGrpSpPr>
      <p:grpSpPr>
        <a:xfrm>
          <a:off x="0" y="0"/>
          <a:ext cx="0" cy="0"/>
          <a:chOff x="0" y="0"/>
          <a:chExt cx="0" cy="0"/>
        </a:xfrm>
      </p:grpSpPr>
      <p:sp>
        <p:nvSpPr>
          <p:cNvPr id="287" name="Google Shape;287;p2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Model</a:t>
            </a:r>
            <a:endParaRPr/>
          </a:p>
        </p:txBody>
      </p:sp>
      <p:sp>
        <p:nvSpPr>
          <p:cNvPr id="288" name="Google Shape;288;p27"/>
          <p:cNvSpPr txBox="1"/>
          <p:nvPr>
            <p:ph idx="1" type="body"/>
          </p:nvPr>
        </p:nvSpPr>
        <p:spPr>
          <a:xfrm>
            <a:off x="165925" y="1538150"/>
            <a:ext cx="5227800" cy="29112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a:t>Possible Models:</a:t>
            </a:r>
            <a:endParaRPr/>
          </a:p>
          <a:p>
            <a:pPr indent="-311150" lvl="0" marL="457200" rtl="0" algn="l">
              <a:spcBef>
                <a:spcPts val="1600"/>
              </a:spcBef>
              <a:spcAft>
                <a:spcPts val="0"/>
              </a:spcAft>
              <a:buSzPts val="1300"/>
              <a:buChar char="●"/>
            </a:pPr>
            <a:r>
              <a:rPr lang="en"/>
              <a:t>Sponsor model</a:t>
            </a:r>
            <a:endParaRPr/>
          </a:p>
          <a:p>
            <a:pPr indent="-298450" lvl="1" marL="1371600" rtl="0" algn="l">
              <a:spcBef>
                <a:spcPts val="0"/>
              </a:spcBef>
              <a:spcAft>
                <a:spcPts val="0"/>
              </a:spcAft>
              <a:buSzPts val="1100"/>
              <a:buChar char="○"/>
            </a:pPr>
            <a:r>
              <a:rPr lang="en"/>
              <a:t>Example</a:t>
            </a:r>
            <a:endParaRPr/>
          </a:p>
          <a:p>
            <a:pPr indent="-298450" lvl="2" marL="1828800" rtl="0" algn="l">
              <a:spcBef>
                <a:spcPts val="0"/>
              </a:spcBef>
              <a:spcAft>
                <a:spcPts val="0"/>
              </a:spcAft>
              <a:buSzPts val="1100"/>
              <a:buChar char="■"/>
            </a:pPr>
            <a:r>
              <a:rPr lang="en"/>
              <a:t>Sweatcoin</a:t>
            </a:r>
            <a:endParaRPr/>
          </a:p>
          <a:p>
            <a:pPr indent="-298450" lvl="3" marL="2286000" rtl="0" algn="l">
              <a:spcBef>
                <a:spcPts val="0"/>
              </a:spcBef>
              <a:spcAft>
                <a:spcPts val="0"/>
              </a:spcAft>
              <a:buSzPts val="1100"/>
              <a:buChar char="●"/>
            </a:pPr>
            <a:r>
              <a:rPr lang="en"/>
              <a:t>Companies pay to have their product on the website</a:t>
            </a:r>
            <a:endParaRPr/>
          </a:p>
          <a:p>
            <a:pPr indent="-298450" lvl="3" marL="2286000" rtl="0" algn="l">
              <a:spcBef>
                <a:spcPts val="0"/>
              </a:spcBef>
              <a:spcAft>
                <a:spcPts val="0"/>
              </a:spcAft>
              <a:buSzPts val="1100"/>
              <a:buChar char="●"/>
            </a:pPr>
            <a:r>
              <a:rPr lang="en"/>
              <a:t>Donate to charities</a:t>
            </a:r>
            <a:endParaRPr/>
          </a:p>
          <a:p>
            <a:pPr indent="-298450" lvl="1" marL="1371600" rtl="0" algn="l">
              <a:spcBef>
                <a:spcPts val="0"/>
              </a:spcBef>
              <a:spcAft>
                <a:spcPts val="0"/>
              </a:spcAft>
              <a:buSzPts val="1100"/>
              <a:buChar char="○"/>
            </a:pPr>
            <a:r>
              <a:rPr lang="en"/>
              <a:t>Sponsors provide gift cards to promote their product</a:t>
            </a:r>
            <a:endParaRPr/>
          </a:p>
          <a:p>
            <a:pPr indent="-311150" lvl="0" marL="457200" rtl="0" algn="l">
              <a:spcBef>
                <a:spcPts val="0"/>
              </a:spcBef>
              <a:spcAft>
                <a:spcPts val="0"/>
              </a:spcAft>
              <a:buSzPts val="1300"/>
              <a:buChar char="●"/>
            </a:pPr>
            <a:r>
              <a:rPr lang="en"/>
              <a:t>Non Intrusive</a:t>
            </a:r>
            <a:r>
              <a:rPr lang="en"/>
              <a:t> ads</a:t>
            </a:r>
            <a:endParaRPr/>
          </a:p>
          <a:p>
            <a:pPr indent="-298450" lvl="1" marL="1371600" rtl="0" algn="l">
              <a:spcBef>
                <a:spcPts val="0"/>
              </a:spcBef>
              <a:spcAft>
                <a:spcPts val="0"/>
              </a:spcAft>
              <a:buSzPts val="1100"/>
              <a:buChar char="○"/>
            </a:pPr>
            <a:r>
              <a:rPr lang="en"/>
              <a:t>Example</a:t>
            </a:r>
            <a:endParaRPr/>
          </a:p>
          <a:p>
            <a:pPr indent="-298450" lvl="2" marL="1828800" rtl="0" algn="l">
              <a:spcBef>
                <a:spcPts val="0"/>
              </a:spcBef>
              <a:spcAft>
                <a:spcPts val="0"/>
              </a:spcAft>
              <a:buSzPts val="1100"/>
              <a:buChar char="■"/>
            </a:pPr>
            <a:r>
              <a:rPr lang="en"/>
              <a:t>Snapchat</a:t>
            </a:r>
            <a:endParaRPr/>
          </a:p>
          <a:p>
            <a:pPr indent="-298450" lvl="1" marL="1371600" rtl="0" algn="l">
              <a:spcBef>
                <a:spcPts val="0"/>
              </a:spcBef>
              <a:spcAft>
                <a:spcPts val="0"/>
              </a:spcAft>
              <a:buSzPts val="1100"/>
              <a:buChar char="○"/>
            </a:pPr>
            <a:r>
              <a:rPr lang="en"/>
              <a:t>Ads exist in a sectioned part of the application</a:t>
            </a:r>
            <a:endParaRPr/>
          </a:p>
        </p:txBody>
      </p:sp>
      <p:sp>
        <p:nvSpPr>
          <p:cNvPr id="289" name="Google Shape;289;p27"/>
          <p:cNvSpPr txBox="1"/>
          <p:nvPr>
            <p:ph idx="1" type="body"/>
          </p:nvPr>
        </p:nvSpPr>
        <p:spPr>
          <a:xfrm>
            <a:off x="4572000" y="514900"/>
            <a:ext cx="4017300" cy="1382700"/>
          </a:xfrm>
          <a:prstGeom prst="rect">
            <a:avLst/>
          </a:prstGeom>
        </p:spPr>
        <p:txBody>
          <a:bodyPr anchorCtr="0" anchor="t" bIns="91425" lIns="91425" spcFirstLastPara="1" rIns="91425" wrap="square" tIns="91425">
            <a:noAutofit/>
          </a:bodyPr>
          <a:lstStyle/>
          <a:p>
            <a:pPr indent="0" lvl="0" marL="914400" rtl="0" algn="l">
              <a:spcBef>
                <a:spcPts val="0"/>
              </a:spcBef>
              <a:spcAft>
                <a:spcPts val="1600"/>
              </a:spcAft>
              <a:buNone/>
            </a:pPr>
            <a:r>
              <a:rPr lang="en" sz="6000"/>
              <a:t>TBD</a:t>
            </a:r>
            <a:endParaRPr sz="6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3" name="Shape 293"/>
        <p:cNvGrpSpPr/>
        <p:nvPr/>
      </p:nvGrpSpPr>
      <p:grpSpPr>
        <a:xfrm>
          <a:off x="0" y="0"/>
          <a:ext cx="0" cy="0"/>
          <a:chOff x="0" y="0"/>
          <a:chExt cx="0" cy="0"/>
        </a:xfrm>
      </p:grpSpPr>
      <p:sp>
        <p:nvSpPr>
          <p:cNvPr id="294" name="Google Shape;294;p28"/>
          <p:cNvSpPr txBox="1"/>
          <p:nvPr/>
        </p:nvSpPr>
        <p:spPr>
          <a:xfrm>
            <a:off x="2808900" y="4363450"/>
            <a:ext cx="32958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https://www.youtube.com/watch?v=UdjGiIn9HMM</a:t>
            </a:r>
            <a:endParaRPr>
              <a:latin typeface="Lato"/>
              <a:ea typeface="Lato"/>
              <a:cs typeface="Lato"/>
              <a:sym typeface="Lato"/>
            </a:endParaRPr>
          </a:p>
        </p:txBody>
      </p:sp>
      <p:pic>
        <p:nvPicPr>
          <p:cNvPr id="295" name="Google Shape;295;p28" title="The Social Network - Relationship Status Scene">
            <a:hlinkClick r:id="rId4"/>
          </p:cNvPr>
          <p:cNvPicPr preferRelativeResize="0"/>
          <p:nvPr/>
        </p:nvPicPr>
        <p:blipFill>
          <a:blip r:embed="rId5">
            <a:alphaModFix/>
          </a:blip>
          <a:stretch>
            <a:fillRect/>
          </a:stretch>
        </p:blipFill>
        <p:spPr>
          <a:xfrm>
            <a:off x="1943038" y="325075"/>
            <a:ext cx="5027525" cy="3770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9" name="Shape 299"/>
        <p:cNvGrpSpPr/>
        <p:nvPr/>
      </p:nvGrpSpPr>
      <p:grpSpPr>
        <a:xfrm>
          <a:off x="0" y="0"/>
          <a:ext cx="0" cy="0"/>
          <a:chOff x="0" y="0"/>
          <a:chExt cx="0" cy="0"/>
        </a:xfrm>
      </p:grpSpPr>
      <p:sp>
        <p:nvSpPr>
          <p:cNvPr id="300" name="Google Shape;300;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Marketing Strategy</a:t>
            </a:r>
            <a:endParaRPr/>
          </a:p>
        </p:txBody>
      </p:sp>
      <p:sp>
        <p:nvSpPr>
          <p:cNvPr id="301" name="Google Shape;301;p29"/>
          <p:cNvSpPr txBox="1"/>
          <p:nvPr>
            <p:ph idx="1" type="body"/>
          </p:nvPr>
        </p:nvSpPr>
        <p:spPr>
          <a:xfrm>
            <a:off x="1297500" y="1567550"/>
            <a:ext cx="7038900" cy="144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"Little Bitcoin"</a:t>
            </a:r>
            <a:endParaRPr/>
          </a:p>
          <a:p>
            <a:pPr indent="-311150" lvl="0" marL="457200" rtl="0" algn="l">
              <a:spcBef>
                <a:spcPts val="0"/>
              </a:spcBef>
              <a:spcAft>
                <a:spcPts val="0"/>
              </a:spcAft>
              <a:buSzPts val="1300"/>
              <a:buChar char="●"/>
            </a:pPr>
            <a:r>
              <a:rPr lang="en"/>
              <a:t>Affiliate links</a:t>
            </a:r>
            <a:endParaRPr/>
          </a:p>
          <a:p>
            <a:pPr indent="-298450" lvl="1" marL="914400" rtl="0" algn="l">
              <a:spcBef>
                <a:spcPts val="0"/>
              </a:spcBef>
              <a:spcAft>
                <a:spcPts val="0"/>
              </a:spcAft>
              <a:buSzPts val="1100"/>
              <a:buChar char="○"/>
            </a:pPr>
            <a:r>
              <a:rPr lang="en"/>
              <a:t>People love free</a:t>
            </a:r>
            <a:endParaRPr/>
          </a:p>
          <a:p>
            <a:pPr indent="-311150" lvl="0" marL="457200" rtl="0" algn="l">
              <a:spcBef>
                <a:spcPts val="0"/>
              </a:spcBef>
              <a:spcAft>
                <a:spcPts val="0"/>
              </a:spcAft>
              <a:buSzPts val="1300"/>
              <a:buChar char="●"/>
            </a:pPr>
            <a:r>
              <a:rPr lang="en"/>
              <a:t>Recruit people from hackathons</a:t>
            </a:r>
            <a:endParaRPr/>
          </a:p>
          <a:p>
            <a:pPr indent="-311150" lvl="0" marL="457200" rtl="0" algn="l">
              <a:spcBef>
                <a:spcPts val="0"/>
              </a:spcBef>
              <a:spcAft>
                <a:spcPts val="0"/>
              </a:spcAft>
              <a:buSzPts val="1300"/>
              <a:buChar char="●"/>
            </a:pPr>
            <a:r>
              <a:rPr lang="en"/>
              <a:t>Ask Mithil for his data</a:t>
            </a:r>
            <a:endParaRPr/>
          </a:p>
          <a:p>
            <a:pPr indent="-311150" lvl="0" marL="457200" rtl="0" algn="l">
              <a:spcBef>
                <a:spcPts val="0"/>
              </a:spcBef>
              <a:spcAft>
                <a:spcPts val="0"/>
              </a:spcAft>
              <a:buSzPts val="1300"/>
              <a:buChar char="●"/>
            </a:pPr>
            <a:r>
              <a:rPr lang="en"/>
              <a:t>Launch X taught that customer influence is the most important resource</a:t>
            </a:r>
            <a:endParaRPr/>
          </a:p>
          <a:p>
            <a:pPr indent="-298450" lvl="1" marL="914400" rtl="0" algn="l">
              <a:spcBef>
                <a:spcPts val="0"/>
              </a:spcBef>
              <a:spcAft>
                <a:spcPts val="0"/>
              </a:spcAft>
              <a:buSzPts val="1100"/>
              <a:buChar char="○"/>
            </a:pPr>
            <a:r>
              <a:rPr lang="en"/>
              <a:t>Solve problems that exist</a:t>
            </a:r>
            <a:endParaRPr/>
          </a:p>
        </p:txBody>
      </p:sp>
      <p:sp>
        <p:nvSpPr>
          <p:cNvPr id="302" name="Google Shape;302;p29"/>
          <p:cNvSpPr txBox="1"/>
          <p:nvPr>
            <p:ph idx="1" type="body"/>
          </p:nvPr>
        </p:nvSpPr>
        <p:spPr>
          <a:xfrm>
            <a:off x="4572000" y="514900"/>
            <a:ext cx="4017300" cy="1382700"/>
          </a:xfrm>
          <a:prstGeom prst="rect">
            <a:avLst/>
          </a:prstGeom>
        </p:spPr>
        <p:txBody>
          <a:bodyPr anchorCtr="0" anchor="t" bIns="91425" lIns="91425" spcFirstLastPara="1" rIns="91425" wrap="square" tIns="91425">
            <a:noAutofit/>
          </a:bodyPr>
          <a:lstStyle/>
          <a:p>
            <a:pPr indent="0" lvl="0" marL="914400" rtl="0" algn="l">
              <a:spcBef>
                <a:spcPts val="0"/>
              </a:spcBef>
              <a:spcAft>
                <a:spcPts val="1600"/>
              </a:spcAft>
              <a:buNone/>
            </a:pPr>
            <a:r>
              <a:rPr lang="en" sz="6000"/>
              <a:t>TBD</a:t>
            </a:r>
            <a:endParaRPr sz="6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6" name="Shape 306"/>
        <p:cNvGrpSpPr/>
        <p:nvPr/>
      </p:nvGrpSpPr>
      <p:grpSpPr>
        <a:xfrm>
          <a:off x="0" y="0"/>
          <a:ext cx="0" cy="0"/>
          <a:chOff x="0" y="0"/>
          <a:chExt cx="0" cy="0"/>
        </a:xfrm>
      </p:grpSpPr>
      <p:sp>
        <p:nvSpPr>
          <p:cNvPr id="307" name="Google Shape;307;p30"/>
          <p:cNvSpPr txBox="1"/>
          <p:nvPr/>
        </p:nvSpPr>
        <p:spPr>
          <a:xfrm>
            <a:off x="2808900" y="4363450"/>
            <a:ext cx="32958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https://www.youtube.com/watch?v=cFEarBzelBs</a:t>
            </a:r>
            <a:endParaRPr>
              <a:latin typeface="Lato"/>
              <a:ea typeface="Lato"/>
              <a:cs typeface="Lato"/>
              <a:sym typeface="Lato"/>
            </a:endParaRPr>
          </a:p>
        </p:txBody>
      </p:sp>
      <p:pic>
        <p:nvPicPr>
          <p:cNvPr descr="www.applewebmaster.com &#10;Apple's Think Different advertising campaign. 1997-2002 &#10;Full version." id="308" name="Google Shape;308;p30" title="Apple - Think Different - Full Version">
            <a:hlinkClick r:id="rId4"/>
          </p:cNvPr>
          <p:cNvPicPr preferRelativeResize="0"/>
          <p:nvPr/>
        </p:nvPicPr>
        <p:blipFill>
          <a:blip r:embed="rId5">
            <a:alphaModFix/>
          </a:blip>
          <a:stretch>
            <a:fillRect/>
          </a:stretch>
        </p:blipFill>
        <p:spPr>
          <a:xfrm>
            <a:off x="2170800" y="636800"/>
            <a:ext cx="4572000" cy="3429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2" name="Shape 312"/>
        <p:cNvGrpSpPr/>
        <p:nvPr/>
      </p:nvGrpSpPr>
      <p:grpSpPr>
        <a:xfrm>
          <a:off x="0" y="0"/>
          <a:ext cx="0" cy="0"/>
          <a:chOff x="0" y="0"/>
          <a:chExt cx="0" cy="0"/>
        </a:xfrm>
      </p:grpSpPr>
      <p:sp>
        <p:nvSpPr>
          <p:cNvPr id="313" name="Google Shape;313;p3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Competitor</a:t>
            </a:r>
            <a:r>
              <a:rPr lang="en"/>
              <a:t> Landscape</a:t>
            </a:r>
            <a:endParaRPr/>
          </a:p>
        </p:txBody>
      </p:sp>
      <p:sp>
        <p:nvSpPr>
          <p:cNvPr id="314" name="Google Shape;314;p31"/>
          <p:cNvSpPr txBox="1"/>
          <p:nvPr>
            <p:ph idx="1" type="body"/>
          </p:nvPr>
        </p:nvSpPr>
        <p:spPr>
          <a:xfrm>
            <a:off x="1927800" y="2919550"/>
            <a:ext cx="5288400" cy="2122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lang="en"/>
              <a:t>All platform decisions are democratic and student led</a:t>
            </a:r>
            <a:endParaRPr/>
          </a:p>
          <a:p>
            <a:pPr indent="-298450" lvl="1" marL="914400" rtl="0" algn="l">
              <a:spcBef>
                <a:spcPts val="0"/>
              </a:spcBef>
              <a:spcAft>
                <a:spcPts val="0"/>
              </a:spcAft>
              <a:buSzPts val="1100"/>
              <a:buAutoNum type="alphaLcPeriod"/>
            </a:pPr>
            <a:r>
              <a:rPr lang="en"/>
              <a:t>COMMUNITY</a:t>
            </a:r>
            <a:endParaRPr/>
          </a:p>
          <a:p>
            <a:pPr indent="-311150" lvl="0" marL="457200" rtl="0" algn="l">
              <a:spcBef>
                <a:spcPts val="0"/>
              </a:spcBef>
              <a:spcAft>
                <a:spcPts val="0"/>
              </a:spcAft>
              <a:buSzPts val="1300"/>
              <a:buAutoNum type="arabicPeriod"/>
            </a:pPr>
            <a:r>
              <a:rPr lang="en"/>
              <a:t>The students define the quality of their experience</a:t>
            </a:r>
            <a:endParaRPr/>
          </a:p>
          <a:p>
            <a:pPr indent="-298450" lvl="1" marL="914400" rtl="0" algn="l">
              <a:spcBef>
                <a:spcPts val="0"/>
              </a:spcBef>
              <a:spcAft>
                <a:spcPts val="0"/>
              </a:spcAft>
              <a:buSzPts val="1100"/>
              <a:buAutoNum type="alphaLcPeriod"/>
            </a:pPr>
            <a:r>
              <a:rPr lang="en"/>
              <a:t>STUDENT LED</a:t>
            </a:r>
            <a:endParaRPr/>
          </a:p>
          <a:p>
            <a:pPr indent="-311150" lvl="0" marL="457200" rtl="0" algn="l">
              <a:spcBef>
                <a:spcPts val="0"/>
              </a:spcBef>
              <a:spcAft>
                <a:spcPts val="0"/>
              </a:spcAft>
              <a:buSzPts val="1300"/>
              <a:buAutoNum type="arabicPeriod"/>
            </a:pPr>
            <a:r>
              <a:rPr lang="en"/>
              <a:t>Only student emails</a:t>
            </a:r>
            <a:endParaRPr/>
          </a:p>
          <a:p>
            <a:pPr indent="-298450" lvl="1" marL="914400" rtl="0" algn="l">
              <a:spcBef>
                <a:spcPts val="0"/>
              </a:spcBef>
              <a:spcAft>
                <a:spcPts val="0"/>
              </a:spcAft>
              <a:buSzPts val="1100"/>
              <a:buAutoNum type="alphaLcPeriod"/>
            </a:pPr>
            <a:r>
              <a:rPr lang="en"/>
              <a:t>EXCLUSIVE</a:t>
            </a:r>
            <a:endParaRPr/>
          </a:p>
          <a:p>
            <a:pPr indent="-311150" lvl="0" marL="457200" rtl="0" algn="l">
              <a:spcBef>
                <a:spcPts val="0"/>
              </a:spcBef>
              <a:spcAft>
                <a:spcPts val="0"/>
              </a:spcAft>
              <a:buSzPts val="1300"/>
              <a:buAutoNum type="arabicPeriod"/>
            </a:pPr>
            <a:r>
              <a:rPr lang="en"/>
              <a:t>Everything a student needs (don't need to login to several apps)</a:t>
            </a:r>
            <a:endParaRPr/>
          </a:p>
          <a:p>
            <a:pPr indent="-298450" lvl="1" marL="914400" rtl="0" algn="l">
              <a:spcBef>
                <a:spcPts val="0"/>
              </a:spcBef>
              <a:spcAft>
                <a:spcPts val="0"/>
              </a:spcAft>
              <a:buSzPts val="1100"/>
              <a:buAutoNum type="alphaLcPeriod"/>
            </a:pPr>
            <a:r>
              <a:rPr lang="en"/>
              <a:t>INTEGRATED</a:t>
            </a:r>
            <a:endParaRPr/>
          </a:p>
        </p:txBody>
      </p:sp>
      <p:pic>
        <p:nvPicPr>
          <p:cNvPr id="315" name="Google Shape;315;p31"/>
          <p:cNvPicPr preferRelativeResize="0"/>
          <p:nvPr/>
        </p:nvPicPr>
        <p:blipFill>
          <a:blip r:embed="rId3">
            <a:alphaModFix/>
          </a:blip>
          <a:stretch>
            <a:fillRect/>
          </a:stretch>
        </p:blipFill>
        <p:spPr>
          <a:xfrm>
            <a:off x="4837200" y="999225"/>
            <a:ext cx="3499200" cy="1788100"/>
          </a:xfrm>
          <a:prstGeom prst="rect">
            <a:avLst/>
          </a:prstGeom>
          <a:noFill/>
          <a:ln>
            <a:noFill/>
          </a:ln>
        </p:spPr>
      </p:pic>
      <p:pic>
        <p:nvPicPr>
          <p:cNvPr id="316" name="Google Shape;316;p31"/>
          <p:cNvPicPr preferRelativeResize="0"/>
          <p:nvPr/>
        </p:nvPicPr>
        <p:blipFill>
          <a:blip r:embed="rId4">
            <a:alphaModFix/>
          </a:blip>
          <a:stretch>
            <a:fillRect/>
          </a:stretch>
        </p:blipFill>
        <p:spPr>
          <a:xfrm>
            <a:off x="490400" y="1386775"/>
            <a:ext cx="3648075" cy="1247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0" name="Shape 320"/>
        <p:cNvGrpSpPr/>
        <p:nvPr/>
      </p:nvGrpSpPr>
      <p:grpSpPr>
        <a:xfrm>
          <a:off x="0" y="0"/>
          <a:ext cx="0" cy="0"/>
          <a:chOff x="0" y="0"/>
          <a:chExt cx="0" cy="0"/>
        </a:xfrm>
      </p:grpSpPr>
      <p:sp>
        <p:nvSpPr>
          <p:cNvPr id="321" name="Google Shape;321;p32"/>
          <p:cNvSpPr txBox="1"/>
          <p:nvPr/>
        </p:nvSpPr>
        <p:spPr>
          <a:xfrm>
            <a:off x="2808900" y="4363450"/>
            <a:ext cx="32958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https://www.youtube.com/watch?v=w61d-NBqafM</a:t>
            </a:r>
            <a:endParaRPr>
              <a:latin typeface="Lato"/>
              <a:ea typeface="Lato"/>
              <a:cs typeface="Lato"/>
              <a:sym typeface="Lato"/>
            </a:endParaRPr>
          </a:p>
        </p:txBody>
      </p:sp>
      <p:pic>
        <p:nvPicPr>
          <p:cNvPr descr="It's a Jared Thing! 😎 Great London Horse Manure Crisis of 1894 😲😅 ↓↓↓ &#10;&#10;Starring: Donald 'Jared' Dunn (Zach Woods), Emily (Emily Chang) + ... &#10;&#10;Speech @ Bloomberg. Horse Shit Crisis 😝 &#10;&#10;&#10;Copyright: © HBO, All the Creators! (Watch All, Full Episodes) &#10;http://hbo.com/silicon-valley &#10;&#10;&#10;Donald 'Jared' Dunn (Playlist) &#10;https://youtube.com/playlist?list=PL3KJscIriIxEXlCC1Pf7nTjso5BfZoWQg &#10;&#10;&#10;Silicon Valley Montage (Playlist) &#10;https://youtube.com/playlist?list=PL3KJscIriIxGBJrr4GzPO_cglwWTr0nXa &#10;&#10;&#10;Like, Comment, Share, Subscribe! 😊" id="322" name="Google Shape;322;p32" title="MANURE (Jared's Analogy, Bloomberg) Silicon Valley">
            <a:hlinkClick r:id="rId4"/>
          </p:cNvPr>
          <p:cNvPicPr preferRelativeResize="0"/>
          <p:nvPr/>
        </p:nvPicPr>
        <p:blipFill>
          <a:blip r:embed="rId5">
            <a:alphaModFix/>
          </a:blip>
          <a:stretch>
            <a:fillRect/>
          </a:stretch>
        </p:blipFill>
        <p:spPr>
          <a:xfrm>
            <a:off x="1796438" y="281025"/>
            <a:ext cx="5320726" cy="3990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6" name="Shape 326"/>
        <p:cNvGrpSpPr/>
        <p:nvPr/>
      </p:nvGrpSpPr>
      <p:grpSpPr>
        <a:xfrm>
          <a:off x="0" y="0"/>
          <a:ext cx="0" cy="0"/>
          <a:chOff x="0" y="0"/>
          <a:chExt cx="0" cy="0"/>
        </a:xfrm>
      </p:grpSpPr>
      <p:sp>
        <p:nvSpPr>
          <p:cNvPr id="327" name="Google Shape;327;p3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Projects Maxims (ISEC)</a:t>
            </a:r>
            <a:endParaRPr/>
          </a:p>
        </p:txBody>
      </p:sp>
      <p:sp>
        <p:nvSpPr>
          <p:cNvPr id="328" name="Google Shape;328;p33"/>
          <p:cNvSpPr/>
          <p:nvPr/>
        </p:nvSpPr>
        <p:spPr>
          <a:xfrm>
            <a:off x="1484625" y="1528100"/>
            <a:ext cx="5701800" cy="30129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9" name="Google Shape;329;p33"/>
          <p:cNvCxnSpPr>
            <a:endCxn id="328" idx="2"/>
          </p:cNvCxnSpPr>
          <p:nvPr/>
        </p:nvCxnSpPr>
        <p:spPr>
          <a:xfrm flipH="1">
            <a:off x="4335525" y="1513400"/>
            <a:ext cx="14700" cy="3027600"/>
          </a:xfrm>
          <a:prstGeom prst="straightConnector1">
            <a:avLst/>
          </a:prstGeom>
          <a:noFill/>
          <a:ln cap="flat" cmpd="sng" w="28575">
            <a:solidFill>
              <a:srgbClr val="000000"/>
            </a:solidFill>
            <a:prstDash val="solid"/>
            <a:round/>
            <a:headEnd len="med" w="med" type="none"/>
            <a:tailEnd len="med" w="med" type="none"/>
          </a:ln>
        </p:spPr>
      </p:cxnSp>
      <p:cxnSp>
        <p:nvCxnSpPr>
          <p:cNvPr id="330" name="Google Shape;330;p33"/>
          <p:cNvCxnSpPr>
            <a:stCxn id="328" idx="1"/>
            <a:endCxn id="328" idx="3"/>
          </p:cNvCxnSpPr>
          <p:nvPr/>
        </p:nvCxnSpPr>
        <p:spPr>
          <a:xfrm>
            <a:off x="1484625" y="3034550"/>
            <a:ext cx="5701800" cy="0"/>
          </a:xfrm>
          <a:prstGeom prst="straightConnector1">
            <a:avLst/>
          </a:prstGeom>
          <a:noFill/>
          <a:ln cap="flat" cmpd="sng" w="28575">
            <a:solidFill>
              <a:srgbClr val="000000"/>
            </a:solidFill>
            <a:prstDash val="solid"/>
            <a:round/>
            <a:headEnd len="med" w="med" type="none"/>
            <a:tailEnd len="med" w="med" type="none"/>
          </a:ln>
        </p:spPr>
      </p:cxnSp>
      <p:sp>
        <p:nvSpPr>
          <p:cNvPr id="331" name="Google Shape;331;p33"/>
          <p:cNvSpPr txBox="1"/>
          <p:nvPr/>
        </p:nvSpPr>
        <p:spPr>
          <a:xfrm>
            <a:off x="1910625" y="1980700"/>
            <a:ext cx="2424900" cy="9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Lato"/>
                <a:ea typeface="Lato"/>
                <a:cs typeface="Lato"/>
                <a:sym typeface="Lato"/>
              </a:rPr>
              <a:t>Integrated</a:t>
            </a:r>
            <a:endParaRPr b="1" sz="3000">
              <a:latin typeface="Lato"/>
              <a:ea typeface="Lato"/>
              <a:cs typeface="Lato"/>
              <a:sym typeface="Lato"/>
            </a:endParaRPr>
          </a:p>
        </p:txBody>
      </p:sp>
      <p:sp>
        <p:nvSpPr>
          <p:cNvPr id="332" name="Google Shape;332;p33"/>
          <p:cNvSpPr txBox="1"/>
          <p:nvPr/>
        </p:nvSpPr>
        <p:spPr>
          <a:xfrm>
            <a:off x="4640325" y="3299500"/>
            <a:ext cx="2424900" cy="9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Lato"/>
                <a:ea typeface="Lato"/>
                <a:cs typeface="Lato"/>
                <a:sym typeface="Lato"/>
              </a:rPr>
              <a:t>Community</a:t>
            </a:r>
            <a:endParaRPr b="1" sz="3000">
              <a:latin typeface="Lato"/>
              <a:ea typeface="Lato"/>
              <a:cs typeface="Lato"/>
              <a:sym typeface="Lato"/>
            </a:endParaRPr>
          </a:p>
        </p:txBody>
      </p:sp>
      <p:sp>
        <p:nvSpPr>
          <p:cNvPr id="333" name="Google Shape;333;p33"/>
          <p:cNvSpPr txBox="1"/>
          <p:nvPr/>
        </p:nvSpPr>
        <p:spPr>
          <a:xfrm>
            <a:off x="1910625" y="3299500"/>
            <a:ext cx="2424900" cy="9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Lato"/>
                <a:ea typeface="Lato"/>
                <a:cs typeface="Lato"/>
                <a:sym typeface="Lato"/>
              </a:rPr>
              <a:t>Exclusive</a:t>
            </a:r>
            <a:endParaRPr b="1" sz="3000">
              <a:latin typeface="Lato"/>
              <a:ea typeface="Lato"/>
              <a:cs typeface="Lato"/>
              <a:sym typeface="Lato"/>
            </a:endParaRPr>
          </a:p>
        </p:txBody>
      </p:sp>
      <p:sp>
        <p:nvSpPr>
          <p:cNvPr id="334" name="Google Shape;334;p33"/>
          <p:cNvSpPr txBox="1"/>
          <p:nvPr/>
        </p:nvSpPr>
        <p:spPr>
          <a:xfrm>
            <a:off x="4640325" y="1980700"/>
            <a:ext cx="2424900" cy="9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Lato"/>
                <a:ea typeface="Lato"/>
                <a:cs typeface="Lato"/>
                <a:sym typeface="Lato"/>
              </a:rPr>
              <a:t>Student Led</a:t>
            </a:r>
            <a:endParaRPr b="1" sz="3000">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8" name="Shape 338"/>
        <p:cNvGrpSpPr/>
        <p:nvPr/>
      </p:nvGrpSpPr>
      <p:grpSpPr>
        <a:xfrm>
          <a:off x="0" y="0"/>
          <a:ext cx="0" cy="0"/>
          <a:chOff x="0" y="0"/>
          <a:chExt cx="0" cy="0"/>
        </a:xfrm>
      </p:grpSpPr>
      <p:sp>
        <p:nvSpPr>
          <p:cNvPr id="339" name="Google Shape;339;p34"/>
          <p:cNvSpPr txBox="1"/>
          <p:nvPr/>
        </p:nvSpPr>
        <p:spPr>
          <a:xfrm>
            <a:off x="2808900" y="4363450"/>
            <a:ext cx="32958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http://www.youtube.com/watch?v=LYu-d6y5HRo&amp;t=0m36s</a:t>
            </a:r>
            <a:endParaRPr>
              <a:latin typeface="Lato"/>
              <a:ea typeface="Lato"/>
              <a:cs typeface="Lato"/>
              <a:sym typeface="Lato"/>
            </a:endParaRPr>
          </a:p>
        </p:txBody>
      </p:sp>
      <p:pic>
        <p:nvPicPr>
          <p:cNvPr descr="One of the candidates Richard rejected is also at the reception. It’s Duncan, the pizza-app guy. Unfortunately, Duncan tells Richard that his Sliceline app is about to take off, so he doesn’t want to be considered for Pied Piper anymore. Sliceline’s entire premise is absurd: Like Priceline does with travel arrangements, it finds you the best price for a pizza and the quickest means of delivery.&#10;&#10;Sliceline manages to get $8 million in funding, which Duncan casually reveals while Richard is trying to convince the CEO of Optimoji to let him acquire her failing company. She has 30 programmers, and Richard only needs 12, but she’s a stickler for keeping her crew intact. The deal is almost set before Duncan and his big mouth shows up. Optimoji decides to go with Duncan, leaving Richard high and dry." id="340" name="Google Shape;340;p34" title="Sliceline - Silicon Valley S05E01">
            <a:hlinkClick r:id="rId4"/>
          </p:cNvPr>
          <p:cNvPicPr preferRelativeResize="0"/>
          <p:nvPr/>
        </p:nvPicPr>
        <p:blipFill>
          <a:blip r:embed="rId5">
            <a:alphaModFix/>
          </a:blip>
          <a:stretch>
            <a:fillRect/>
          </a:stretch>
        </p:blipFill>
        <p:spPr>
          <a:xfrm>
            <a:off x="2170800" y="702500"/>
            <a:ext cx="4572000" cy="3429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4" name="Shape 344"/>
        <p:cNvGrpSpPr/>
        <p:nvPr/>
      </p:nvGrpSpPr>
      <p:grpSpPr>
        <a:xfrm>
          <a:off x="0" y="0"/>
          <a:ext cx="0" cy="0"/>
          <a:chOff x="0" y="0"/>
          <a:chExt cx="0" cy="0"/>
        </a:xfrm>
      </p:grpSpPr>
      <p:sp>
        <p:nvSpPr>
          <p:cNvPr id="345" name="Google Shape;345;p3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&amp; </a:t>
            </a:r>
            <a:r>
              <a:rPr lang="en"/>
              <a:t>Roles</a:t>
            </a:r>
            <a:endParaRPr/>
          </a:p>
        </p:txBody>
      </p:sp>
      <p:sp>
        <p:nvSpPr>
          <p:cNvPr id="346" name="Google Shape;346;p35"/>
          <p:cNvSpPr txBox="1"/>
          <p:nvPr>
            <p:ph idx="1" type="body"/>
          </p:nvPr>
        </p:nvSpPr>
        <p:spPr>
          <a:xfrm>
            <a:off x="650900" y="1885050"/>
            <a:ext cx="3420300" cy="137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&amp; Marketing:</a:t>
            </a:r>
            <a:endParaRPr/>
          </a:p>
          <a:p>
            <a:pPr indent="-311150" lvl="0" marL="457200" rtl="0" algn="l">
              <a:spcBef>
                <a:spcPts val="1600"/>
              </a:spcBef>
              <a:spcAft>
                <a:spcPts val="0"/>
              </a:spcAft>
              <a:buSzPts val="1300"/>
              <a:buChar char="●"/>
            </a:pPr>
            <a:r>
              <a:rPr lang="en"/>
              <a:t>Research competition and advantages</a:t>
            </a:r>
            <a:endParaRPr/>
          </a:p>
          <a:p>
            <a:pPr indent="-311150" lvl="0" marL="457200" rtl="0" algn="l">
              <a:spcBef>
                <a:spcPts val="0"/>
              </a:spcBef>
              <a:spcAft>
                <a:spcPts val="0"/>
              </a:spcAft>
              <a:buSzPts val="1300"/>
              <a:buChar char="●"/>
            </a:pPr>
            <a:r>
              <a:rPr lang="en"/>
              <a:t>Funding</a:t>
            </a:r>
            <a:endParaRPr/>
          </a:p>
          <a:p>
            <a:pPr indent="-311150" lvl="0" marL="457200" rtl="0" algn="l">
              <a:spcBef>
                <a:spcPts val="0"/>
              </a:spcBef>
              <a:spcAft>
                <a:spcPts val="0"/>
              </a:spcAft>
              <a:buSzPts val="1300"/>
              <a:buChar char="●"/>
            </a:pPr>
            <a:r>
              <a:rPr lang="en"/>
              <a:t>Go to market models &amp; strategy</a:t>
            </a:r>
            <a:endParaRPr/>
          </a:p>
        </p:txBody>
      </p:sp>
      <p:sp>
        <p:nvSpPr>
          <p:cNvPr id="347" name="Google Shape;347;p35"/>
          <p:cNvSpPr txBox="1"/>
          <p:nvPr>
            <p:ph idx="1" type="body"/>
          </p:nvPr>
        </p:nvSpPr>
        <p:spPr>
          <a:xfrm>
            <a:off x="4668275" y="1307850"/>
            <a:ext cx="3420300" cy="137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Developers</a:t>
            </a:r>
            <a:r>
              <a:rPr lang="en"/>
              <a:t>:</a:t>
            </a:r>
            <a:endParaRPr/>
          </a:p>
          <a:p>
            <a:pPr indent="-311150" lvl="0" marL="457200" rtl="0" algn="l">
              <a:spcBef>
                <a:spcPts val="1600"/>
              </a:spcBef>
              <a:spcAft>
                <a:spcPts val="0"/>
              </a:spcAft>
              <a:buSzPts val="1300"/>
              <a:buChar char="●"/>
            </a:pPr>
            <a:r>
              <a:rPr lang="en"/>
              <a:t>Follow Milestones</a:t>
            </a:r>
            <a:endParaRPr/>
          </a:p>
          <a:p>
            <a:pPr indent="-311150" lvl="0" marL="457200" rtl="0" algn="l">
              <a:spcBef>
                <a:spcPts val="0"/>
              </a:spcBef>
              <a:spcAft>
                <a:spcPts val="0"/>
              </a:spcAft>
              <a:buSzPts val="1300"/>
              <a:buChar char="●"/>
            </a:pPr>
            <a:r>
              <a:rPr lang="en"/>
              <a:t>Determine Agile techniques to use</a:t>
            </a:r>
            <a:endParaRPr/>
          </a:p>
          <a:p>
            <a:pPr indent="-311150" lvl="0" marL="457200" rtl="0" algn="l">
              <a:spcBef>
                <a:spcPts val="0"/>
              </a:spcBef>
              <a:spcAft>
                <a:spcPts val="0"/>
              </a:spcAft>
              <a:buSzPts val="1300"/>
              <a:buChar char="●"/>
            </a:pPr>
            <a:r>
              <a:rPr lang="en"/>
              <a:t>Develop platform</a:t>
            </a:r>
            <a:endParaRPr/>
          </a:p>
        </p:txBody>
      </p:sp>
      <p:pic>
        <p:nvPicPr>
          <p:cNvPr id="348" name="Google Shape;348;p35"/>
          <p:cNvPicPr preferRelativeResize="0"/>
          <p:nvPr/>
        </p:nvPicPr>
        <p:blipFill>
          <a:blip r:embed="rId3">
            <a:alphaModFix/>
          </a:blip>
          <a:stretch>
            <a:fillRect/>
          </a:stretch>
        </p:blipFill>
        <p:spPr>
          <a:xfrm>
            <a:off x="950113" y="3381450"/>
            <a:ext cx="2821875" cy="1580250"/>
          </a:xfrm>
          <a:prstGeom prst="rect">
            <a:avLst/>
          </a:prstGeom>
          <a:noFill/>
          <a:ln>
            <a:noFill/>
          </a:ln>
        </p:spPr>
      </p:pic>
      <p:pic>
        <p:nvPicPr>
          <p:cNvPr id="349" name="Google Shape;349;p35"/>
          <p:cNvPicPr preferRelativeResize="0"/>
          <p:nvPr/>
        </p:nvPicPr>
        <p:blipFill>
          <a:blip r:embed="rId4">
            <a:alphaModFix/>
          </a:blip>
          <a:stretch>
            <a:fillRect/>
          </a:stretch>
        </p:blipFill>
        <p:spPr>
          <a:xfrm>
            <a:off x="5272950" y="2681250"/>
            <a:ext cx="2210950" cy="2210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3" name="Shape 353"/>
        <p:cNvGrpSpPr/>
        <p:nvPr/>
      </p:nvGrpSpPr>
      <p:grpSpPr>
        <a:xfrm>
          <a:off x="0" y="0"/>
          <a:ext cx="0" cy="0"/>
          <a:chOff x="0" y="0"/>
          <a:chExt cx="0" cy="0"/>
        </a:xfrm>
      </p:grpSpPr>
      <p:sp>
        <p:nvSpPr>
          <p:cNvPr id="354" name="Google Shape;354;p36"/>
          <p:cNvSpPr txBox="1"/>
          <p:nvPr/>
        </p:nvSpPr>
        <p:spPr>
          <a:xfrm>
            <a:off x="2808900" y="4363450"/>
            <a:ext cx="32958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http://www.youtube.com/watch?v=xbiDrzTd8fE&amp;t=0m51s</a:t>
            </a:r>
            <a:endParaRPr>
              <a:latin typeface="Lato"/>
              <a:ea typeface="Lato"/>
              <a:cs typeface="Lato"/>
              <a:sym typeface="Lato"/>
            </a:endParaRPr>
          </a:p>
        </p:txBody>
      </p:sp>
      <p:pic>
        <p:nvPicPr>
          <p:cNvPr descr="&quot;You smell that? What is that?...&quot;&#10;&quot;Your cologne?&quot; &quot;No&quot;&#10;&quot;Opportunity&quot;&#10;&quot;No. Money&quot;&#10;&#10;Danny Moses, Vinny Daniel, Porter Collins, and Mark Baum (based on Steve Eisman) decide to meet with Vennett to listen to his sales pitch: Credit Default Swap on Mortgage Backed Bonds and his illustration of Collateralized Debt Obligations." id="355" name="Google Shape;355;p36" title="The Big Short (2015) - Jared Vennett's Pitch to Front Point Partners (Jenga Blocks Scene) [HD 1080p]">
            <a:hlinkClick r:id="rId4"/>
          </p:cNvPr>
          <p:cNvPicPr preferRelativeResize="0"/>
          <p:nvPr/>
        </p:nvPicPr>
        <p:blipFill>
          <a:blip r:embed="rId5">
            <a:alphaModFix/>
          </a:blip>
          <a:stretch>
            <a:fillRect/>
          </a:stretch>
        </p:blipFill>
        <p:spPr>
          <a:xfrm>
            <a:off x="2007500" y="567575"/>
            <a:ext cx="4898600" cy="3673950"/>
          </a:xfrm>
          <a:prstGeom prst="rect">
            <a:avLst/>
          </a:prstGeom>
          <a:noFill/>
          <a:ln>
            <a:noFill/>
          </a:ln>
        </p:spPr>
      </p:pic>
      <p:sp>
        <p:nvSpPr>
          <p:cNvPr id="356" name="Google Shape;356;p36"/>
          <p:cNvSpPr txBox="1"/>
          <p:nvPr/>
        </p:nvSpPr>
        <p:spPr>
          <a:xfrm>
            <a:off x="275575" y="2021400"/>
            <a:ext cx="1306500" cy="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Lato"/>
                <a:ea typeface="Lato"/>
                <a:cs typeface="Lato"/>
                <a:sym typeface="Lato"/>
              </a:rPr>
              <a:t>STOP AT 7:10</a:t>
            </a:r>
            <a:endParaRPr b="1" sz="1800">
              <a:solidFill>
                <a:srgbClr val="FFFFFF"/>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0" name="Shape 360"/>
        <p:cNvGrpSpPr/>
        <p:nvPr/>
      </p:nvGrpSpPr>
      <p:grpSpPr>
        <a:xfrm>
          <a:off x="0" y="0"/>
          <a:ext cx="0" cy="0"/>
          <a:chOff x="0" y="0"/>
          <a:chExt cx="0" cy="0"/>
        </a:xfrm>
      </p:grpSpPr>
      <p:sp>
        <p:nvSpPr>
          <p:cNvPr id="361" name="Google Shape;361;p3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&amp; Roles</a:t>
            </a:r>
            <a:endParaRPr/>
          </a:p>
        </p:txBody>
      </p:sp>
      <p:sp>
        <p:nvSpPr>
          <p:cNvPr id="362" name="Google Shape;362;p37"/>
          <p:cNvSpPr txBox="1"/>
          <p:nvPr>
            <p:ph idx="1" type="body"/>
          </p:nvPr>
        </p:nvSpPr>
        <p:spPr>
          <a:xfrm>
            <a:off x="636200" y="1605850"/>
            <a:ext cx="6726600" cy="290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Team Roster:</a:t>
            </a:r>
            <a:endParaRPr sz="2000"/>
          </a:p>
          <a:p>
            <a:pPr indent="-355600" lvl="0" marL="457200" rtl="0" algn="l">
              <a:spcBef>
                <a:spcPts val="1600"/>
              </a:spcBef>
              <a:spcAft>
                <a:spcPts val="0"/>
              </a:spcAft>
              <a:buSzPts val="2000"/>
              <a:buChar char="●"/>
            </a:pPr>
            <a:r>
              <a:rPr lang="en" sz="2000"/>
              <a:t>Manseej (add roles)</a:t>
            </a:r>
            <a:endParaRPr sz="2000"/>
          </a:p>
          <a:p>
            <a:pPr indent="-355600" lvl="0" marL="457200" rtl="0" algn="l">
              <a:spcBef>
                <a:spcPts val="0"/>
              </a:spcBef>
              <a:spcAft>
                <a:spcPts val="0"/>
              </a:spcAft>
              <a:buSzPts val="2000"/>
              <a:buChar char="●"/>
            </a:pPr>
            <a:r>
              <a:rPr lang="en" sz="2000"/>
              <a:t>Abhinav</a:t>
            </a:r>
            <a:r>
              <a:rPr lang="en" sz="2000"/>
              <a:t> (add roles)</a:t>
            </a:r>
            <a:endParaRPr sz="2000"/>
          </a:p>
          <a:p>
            <a:pPr indent="-355600" lvl="0" marL="457200" rtl="0" algn="l">
              <a:spcBef>
                <a:spcPts val="0"/>
              </a:spcBef>
              <a:spcAft>
                <a:spcPts val="0"/>
              </a:spcAft>
              <a:buSzPts val="2000"/>
              <a:buChar char="●"/>
            </a:pPr>
            <a:r>
              <a:rPr lang="en" sz="2000"/>
              <a:t>Max (Market &amp; Developer)</a:t>
            </a:r>
            <a:endParaRPr sz="2000"/>
          </a:p>
          <a:p>
            <a:pPr indent="0" lvl="0" marL="0" rtl="0" algn="l">
              <a:spcBef>
                <a:spcPts val="1600"/>
              </a:spcBef>
              <a:spcAft>
                <a:spcPts val="16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6" name="Shape 366"/>
        <p:cNvGrpSpPr/>
        <p:nvPr/>
      </p:nvGrpSpPr>
      <p:grpSpPr>
        <a:xfrm>
          <a:off x="0" y="0"/>
          <a:ext cx="0" cy="0"/>
          <a:chOff x="0" y="0"/>
          <a:chExt cx="0" cy="0"/>
        </a:xfrm>
      </p:grpSpPr>
      <p:sp>
        <p:nvSpPr>
          <p:cNvPr id="367" name="Google Shape;367;p3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Roadmap</a:t>
            </a:r>
            <a:endParaRPr/>
          </a:p>
        </p:txBody>
      </p:sp>
      <p:sp>
        <p:nvSpPr>
          <p:cNvPr id="368" name="Google Shape;368;p38"/>
          <p:cNvSpPr txBox="1"/>
          <p:nvPr>
            <p:ph idx="1" type="body"/>
          </p:nvPr>
        </p:nvSpPr>
        <p:spPr>
          <a:xfrm>
            <a:off x="1297500" y="1567550"/>
            <a:ext cx="5316000" cy="2078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t>TBD - ADD DATES TO THE TIMELINE</a:t>
            </a:r>
            <a:endParaRPr sz="3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2" name="Shape 372"/>
        <p:cNvGrpSpPr/>
        <p:nvPr/>
      </p:nvGrpSpPr>
      <p:grpSpPr>
        <a:xfrm>
          <a:off x="0" y="0"/>
          <a:ext cx="0" cy="0"/>
          <a:chOff x="0" y="0"/>
          <a:chExt cx="0" cy="0"/>
        </a:xfrm>
      </p:grpSpPr>
      <p:sp>
        <p:nvSpPr>
          <p:cNvPr id="373" name="Google Shape;373;p3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DevOps</a:t>
            </a:r>
            <a:endParaRPr/>
          </a:p>
        </p:txBody>
      </p:sp>
      <p:sp>
        <p:nvSpPr>
          <p:cNvPr id="374" name="Google Shape;374;p3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Agile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8" name="Shape 378"/>
        <p:cNvGrpSpPr/>
        <p:nvPr/>
      </p:nvGrpSpPr>
      <p:grpSpPr>
        <a:xfrm>
          <a:off x="0" y="0"/>
          <a:ext cx="0" cy="0"/>
          <a:chOff x="0" y="0"/>
          <a:chExt cx="0" cy="0"/>
        </a:xfrm>
      </p:grpSpPr>
      <p:sp>
        <p:nvSpPr>
          <p:cNvPr id="379" name="Google Shape;379;p4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TODO</a:t>
            </a:r>
            <a:endParaRPr/>
          </a:p>
        </p:txBody>
      </p:sp>
      <p:sp>
        <p:nvSpPr>
          <p:cNvPr id="380" name="Google Shape;380;p4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sz="1800"/>
              <a:t>Market Research</a:t>
            </a:r>
            <a:endParaRPr sz="1800"/>
          </a:p>
          <a:p>
            <a:pPr indent="-342900" lvl="1" marL="914400" rtl="0" algn="l">
              <a:spcBef>
                <a:spcPts val="0"/>
              </a:spcBef>
              <a:spcAft>
                <a:spcPts val="0"/>
              </a:spcAft>
              <a:buSzPts val="1800"/>
              <a:buAutoNum type="alphaLcPeriod"/>
            </a:pPr>
            <a:r>
              <a:rPr lang="en" sz="1800"/>
              <a:t>Ask people the 4 big questions</a:t>
            </a:r>
            <a:endParaRPr sz="1800"/>
          </a:p>
          <a:p>
            <a:pPr indent="-342900" lvl="1" marL="914400" rtl="0" algn="l">
              <a:spcBef>
                <a:spcPts val="0"/>
              </a:spcBef>
              <a:spcAft>
                <a:spcPts val="0"/>
              </a:spcAft>
              <a:buSzPts val="1800"/>
              <a:buAutoNum type="alphaLcPeriod"/>
            </a:pPr>
            <a:r>
              <a:rPr lang="en" sz="1800"/>
              <a:t>Launch x story</a:t>
            </a:r>
            <a:endParaRPr sz="1800"/>
          </a:p>
          <a:p>
            <a:pPr indent="-342900" lvl="0" marL="457200" rtl="0" algn="l">
              <a:spcBef>
                <a:spcPts val="0"/>
              </a:spcBef>
              <a:spcAft>
                <a:spcPts val="0"/>
              </a:spcAft>
              <a:buSzPts val="1800"/>
              <a:buAutoNum type="arabicPeriod"/>
            </a:pPr>
            <a:r>
              <a:rPr lang="en" sz="1800"/>
              <a:t>Construct the App</a:t>
            </a:r>
            <a:endParaRPr sz="1800"/>
          </a:p>
          <a:p>
            <a:pPr indent="-342900" lvl="0" marL="457200" rtl="0" algn="l">
              <a:spcBef>
                <a:spcPts val="0"/>
              </a:spcBef>
              <a:spcAft>
                <a:spcPts val="0"/>
              </a:spcAft>
              <a:buSzPts val="1800"/>
              <a:buAutoNum type="arabicPeriod"/>
            </a:pPr>
            <a:r>
              <a:rPr lang="en" sz="1800"/>
              <a:t>Construct the supporting website</a:t>
            </a:r>
            <a:endParaRPr sz="1800"/>
          </a:p>
          <a:p>
            <a:pPr indent="-342900" lvl="0" marL="457200" rtl="0" algn="l">
              <a:spcBef>
                <a:spcPts val="0"/>
              </a:spcBef>
              <a:spcAft>
                <a:spcPts val="0"/>
              </a:spcAft>
              <a:buSzPts val="1800"/>
              <a:buAutoNum type="arabicPeriod"/>
            </a:pPr>
            <a:r>
              <a:rPr lang="en" sz="1800"/>
              <a:t>Push to market </a:t>
            </a:r>
            <a:r>
              <a:rPr i="1" lang="en" sz="1800" u="sng"/>
              <a:t>strategically</a:t>
            </a:r>
            <a:endParaRPr i="1" sz="1800" u="sng"/>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4" name="Shape 384"/>
        <p:cNvGrpSpPr/>
        <p:nvPr/>
      </p:nvGrpSpPr>
      <p:grpSpPr>
        <a:xfrm>
          <a:off x="0" y="0"/>
          <a:ext cx="0" cy="0"/>
          <a:chOff x="0" y="0"/>
          <a:chExt cx="0" cy="0"/>
        </a:xfrm>
      </p:grpSpPr>
      <p:pic>
        <p:nvPicPr>
          <p:cNvPr descr="OR DO WE?" id="385" name="Google Shape;385;p41" title="Silicon Valley - Erlich Bachman &amp; George Washington">
            <a:hlinkClick r:id="rId3"/>
          </p:cNvPr>
          <p:cNvPicPr preferRelativeResize="0"/>
          <p:nvPr/>
        </p:nvPicPr>
        <p:blipFill>
          <a:blip r:embed="rId4">
            <a:alphaModFix/>
          </a:blip>
          <a:stretch>
            <a:fillRect/>
          </a:stretch>
        </p:blipFill>
        <p:spPr>
          <a:xfrm>
            <a:off x="2170800" y="557050"/>
            <a:ext cx="4572000" cy="3429000"/>
          </a:xfrm>
          <a:prstGeom prst="rect">
            <a:avLst/>
          </a:prstGeom>
          <a:noFill/>
          <a:ln>
            <a:noFill/>
          </a:ln>
        </p:spPr>
      </p:pic>
      <p:sp>
        <p:nvSpPr>
          <p:cNvPr id="386" name="Google Shape;386;p41"/>
          <p:cNvSpPr txBox="1"/>
          <p:nvPr/>
        </p:nvSpPr>
        <p:spPr>
          <a:xfrm>
            <a:off x="2808900" y="4363450"/>
            <a:ext cx="32958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5"/>
              </a:rPr>
              <a:t>https://www.youtube.com/watch?v=DnNnzZ6Ta2c</a:t>
            </a:r>
            <a:endParaRPr>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0" name="Shape 390"/>
        <p:cNvGrpSpPr/>
        <p:nvPr/>
      </p:nvGrpSpPr>
      <p:grpSpPr>
        <a:xfrm>
          <a:off x="0" y="0"/>
          <a:ext cx="0" cy="0"/>
          <a:chOff x="0" y="0"/>
          <a:chExt cx="0" cy="0"/>
        </a:xfrm>
      </p:grpSpPr>
      <p:sp>
        <p:nvSpPr>
          <p:cNvPr id="391" name="Google Shape;391;p4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Funding Requirements</a:t>
            </a:r>
            <a:endParaRPr/>
          </a:p>
        </p:txBody>
      </p:sp>
      <p:sp>
        <p:nvSpPr>
          <p:cNvPr id="392" name="Google Shape;392;p42"/>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Startup capital for </a:t>
            </a:r>
            <a:r>
              <a:rPr lang="en" sz="1800"/>
              <a:t>infrastructure</a:t>
            </a:r>
            <a:endParaRPr sz="1800"/>
          </a:p>
          <a:p>
            <a:pPr indent="-342900" lvl="1" marL="914400" rtl="0" algn="l">
              <a:spcBef>
                <a:spcPts val="0"/>
              </a:spcBef>
              <a:spcAft>
                <a:spcPts val="0"/>
              </a:spcAft>
              <a:buSzPts val="1800"/>
              <a:buChar char="○"/>
            </a:pPr>
            <a:r>
              <a:rPr lang="en" sz="1800"/>
              <a:t>Servers</a:t>
            </a:r>
            <a:endParaRPr sz="1800"/>
          </a:p>
          <a:p>
            <a:pPr indent="-342900" lvl="0" marL="457200" rtl="0" algn="l">
              <a:spcBef>
                <a:spcPts val="0"/>
              </a:spcBef>
              <a:spcAft>
                <a:spcPts val="0"/>
              </a:spcAft>
              <a:buSzPts val="1800"/>
              <a:buChar char="●"/>
            </a:pPr>
            <a:r>
              <a:rPr lang="en" sz="1800"/>
              <a:t>Sponsors</a:t>
            </a:r>
            <a:r>
              <a:rPr lang="en" sz="1800"/>
              <a:t> </a:t>
            </a:r>
            <a:endParaRPr sz="1800"/>
          </a:p>
        </p:txBody>
      </p:sp>
      <p:pic>
        <p:nvPicPr>
          <p:cNvPr id="393" name="Google Shape;393;p42"/>
          <p:cNvPicPr preferRelativeResize="0"/>
          <p:nvPr/>
        </p:nvPicPr>
        <p:blipFill>
          <a:blip r:embed="rId3">
            <a:alphaModFix/>
          </a:blip>
          <a:stretch>
            <a:fillRect/>
          </a:stretch>
        </p:blipFill>
        <p:spPr>
          <a:xfrm>
            <a:off x="6216650" y="2704725"/>
            <a:ext cx="2792475" cy="22563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7" name="Shape 397"/>
        <p:cNvGrpSpPr/>
        <p:nvPr/>
      </p:nvGrpSpPr>
      <p:grpSpPr>
        <a:xfrm>
          <a:off x="0" y="0"/>
          <a:ext cx="0" cy="0"/>
          <a:chOff x="0" y="0"/>
          <a:chExt cx="0" cy="0"/>
        </a:xfrm>
      </p:grpSpPr>
      <p:sp>
        <p:nvSpPr>
          <p:cNvPr id="398" name="Google Shape;398;p43"/>
          <p:cNvSpPr txBox="1"/>
          <p:nvPr/>
        </p:nvSpPr>
        <p:spPr>
          <a:xfrm>
            <a:off x="2765250" y="4378125"/>
            <a:ext cx="36135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https://www.youtube.com/watch?v=mVWid90Wwxs</a:t>
            </a:r>
            <a:endParaRPr>
              <a:latin typeface="Lato"/>
              <a:ea typeface="Lato"/>
              <a:cs typeface="Lato"/>
              <a:sym typeface="Lato"/>
            </a:endParaRPr>
          </a:p>
        </p:txBody>
      </p:sp>
      <p:pic>
        <p:nvPicPr>
          <p:cNvPr descr="A scene from Season 3, Episode 10 of the TV show Silicon Valley." id="399" name="Google Shape;399;p43" title="How Erlich Bachman Saved Pied Piper. [Silicon Valley S3E10]">
            <a:hlinkClick r:id="rId4"/>
          </p:cNvPr>
          <p:cNvPicPr preferRelativeResize="0"/>
          <p:nvPr/>
        </p:nvPicPr>
        <p:blipFill>
          <a:blip r:embed="rId5">
            <a:alphaModFix/>
          </a:blip>
          <a:stretch>
            <a:fillRect/>
          </a:stretch>
        </p:blipFill>
        <p:spPr>
          <a:xfrm>
            <a:off x="1956175" y="454375"/>
            <a:ext cx="5231650" cy="3923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3" name="Shape 403"/>
        <p:cNvGrpSpPr/>
        <p:nvPr/>
      </p:nvGrpSpPr>
      <p:grpSpPr>
        <a:xfrm>
          <a:off x="0" y="0"/>
          <a:ext cx="0" cy="0"/>
          <a:chOff x="0" y="0"/>
          <a:chExt cx="0" cy="0"/>
        </a:xfrm>
      </p:grpSpPr>
      <p:sp>
        <p:nvSpPr>
          <p:cNvPr id="404" name="Google Shape;404;p4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Profit Margins</a:t>
            </a:r>
            <a:endParaRPr/>
          </a:p>
        </p:txBody>
      </p:sp>
      <p:sp>
        <p:nvSpPr>
          <p:cNvPr id="405" name="Google Shape;405;p44"/>
          <p:cNvSpPr txBox="1"/>
          <p:nvPr>
            <p:ph idx="1" type="body"/>
          </p:nvPr>
        </p:nvSpPr>
        <p:spPr>
          <a:xfrm>
            <a:off x="1297500" y="1567550"/>
            <a:ext cx="4316700" cy="118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Compare our model to </a:t>
            </a:r>
            <a:r>
              <a:rPr lang="en"/>
              <a:t>similar</a:t>
            </a:r>
            <a:r>
              <a:rPr lang="en"/>
              <a:t> apps on the market</a:t>
            </a:r>
            <a:endParaRPr/>
          </a:p>
          <a:p>
            <a:pPr indent="0" lvl="0" marL="0" rtl="0" algn="l">
              <a:spcBef>
                <a:spcPts val="1600"/>
              </a:spcBef>
              <a:spcAft>
                <a:spcPts val="1600"/>
              </a:spcAft>
              <a:buNone/>
            </a:pPr>
            <a:r>
              <a:rPr lang="en"/>
              <a:t>How do we compare?</a:t>
            </a:r>
            <a:endParaRPr/>
          </a:p>
        </p:txBody>
      </p:sp>
      <p:sp>
        <p:nvSpPr>
          <p:cNvPr id="406" name="Google Shape;406;p44"/>
          <p:cNvSpPr txBox="1"/>
          <p:nvPr>
            <p:ph idx="1" type="body"/>
          </p:nvPr>
        </p:nvSpPr>
        <p:spPr>
          <a:xfrm>
            <a:off x="6053100" y="2293100"/>
            <a:ext cx="2283300" cy="1071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t>TBD</a:t>
            </a:r>
            <a:endParaRPr sz="36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0" name="Shape 410"/>
        <p:cNvGrpSpPr/>
        <p:nvPr/>
      </p:nvGrpSpPr>
      <p:grpSpPr>
        <a:xfrm>
          <a:off x="0" y="0"/>
          <a:ext cx="0" cy="0"/>
          <a:chOff x="0" y="0"/>
          <a:chExt cx="0" cy="0"/>
        </a:xfrm>
      </p:grpSpPr>
      <p:sp>
        <p:nvSpPr>
          <p:cNvPr id="411" name="Google Shape;411;p45"/>
          <p:cNvSpPr txBox="1"/>
          <p:nvPr/>
        </p:nvSpPr>
        <p:spPr>
          <a:xfrm>
            <a:off x="2765250" y="4378125"/>
            <a:ext cx="3613500" cy="3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3"/>
              </a:rPr>
              <a:t>http://www.youtube.com/watch?v=ZDYGogxH3hw&amp;t=3m45s</a:t>
            </a:r>
            <a:endParaRPr>
              <a:latin typeface="Lato"/>
              <a:ea typeface="Lato"/>
              <a:cs typeface="Lato"/>
              <a:sym typeface="Lato"/>
            </a:endParaRPr>
          </a:p>
        </p:txBody>
      </p:sp>
      <p:pic>
        <p:nvPicPr>
          <p:cNvPr descr="Check out these books about Steve Jobs: &#10;* Steve Jobs: https://amzn.to/2PGH3nM&#10;* The Presentation Secrets of Steve Jobs: https://amzn.to/2JB1j55&#10;* Becoming Steve Jobs: https://amzn.to/2QgZKf8&#10;* Steve Jobs: The Man Who Thought Differently: https://amzn.to/2AHIqdQ&#10;* Steve Jobs (Movie): https://amzn.to/2CZgLq3&#10;&#10;✎ Steve Jobs's Top 10 Rules for Success: In this video we're going to learn how to improve our lives by analyzing our take on Steve Jobs' rules for success.&#10;&#10;❤ HELP TRANSLATE THIS VIDEO ❤&#10;If you loved this video, help people in other countries enjoy it too by making captions for it. Spread the love and impact. &#10;http://www.youtube.com/timedtext_video?v=ZDYGogxH3hw&amp;ref=share&#10;&#10;★ MORE RECOMMENDED VIDEOS FOR YOU ★&#10;If you enjoyed this video, you may enjoy these other videos from Evan Carmichael:&#10;• Steve Wozniak's Top 10 Rules for Success - https://youtu.be/GrABOzlvJxo&#10;• Bill Gates's Top 10 Rules For Success - https://youtu.be/wq-gba5nMrc&#10;• Tim Cook's Top 10 Rules For Success - https://youtu.be/Ak5XrbDidTE&#10;&#10;✎ He was an American businessman, inventor, and industrial designer. He was the co-founder, chairman, and chief executive officer (CEO) of Apple Inc. He widely recognized as a pioneer of the microcomputer revolution of the 1970s and 1980s. He's Steve Jobs and here is my take on his Top 10 Rules for Success Volume 2!&#10;&#10;-= STEVE'S RULES =-&#10;1. Be willing to fail &#10;2. Be the thinker and doer&#10;3. Question everything&#10;4. Focus&#10;5. Reiterate the vision&#10;6. Make great products&#10;7. Persevere&#10;8. Act now!&#10;9. Be a great storyteller&#10;10. Get A players&#10;-= BONUS =-&#10;* Think about the future&#10;* Know your market&#10;* Be a rebel&#10;&#10;✎ He was adopted at birth in San Francisco, and raised in the San Francisco Bay Area during the 1960s. He briefly attended Reed College before dropping out and deciding to travel through India to seek enlightenment and study Zen Buddhism. He co-founded Apple in 1976 to sell Wozniak's Apple I personal computer. The duo gained fame and wealth a year later for the Apple II, one of the first highly successful mass-produced personal computers. After leaving Apple, Jobs took a few of its members with him to found NeXT. In 1997, Apple acquired and merged NeXT, allowing Jobs to become CEO once again, reviving the company at the verge of bankruptcy.&#10;&#10;✎ Jobs worked closely with designer Jonathan Ive to develop a line of products that would have larger cultural ramifications. Jobs helped to initiate the development of the visual effects industry when he funded the spinout of the computer graphics division of Lucasfilm in 1986. Pixar would eventually produce the first fully computer-animated film, Toy Story—an event made possible in part because of Jobs's financial support. He was diagnosed with a pancreatic neuroendocrine tumor, and died on October 5, 2011.&#10;&#10;❞ THIS VIDEO REQUESTED BY ❞&#10;Karlvin Edeza: &quot;Volume 2 of Steve Jobs ^_^&quot;&#10;&#10;✔ SOURCES ✔&#10;[Silicon Valley Historical Association] - &quot;You've got to be willing to fail&quot; - https://youtu.be/cfcHQA175g8&#10;[prettymanjane] - Rare Steve Jobs 1990 Interview - https://youtu.be/Kj_48pHuXWo&#10;[BrEacK] - The Lost Interview - https://youtu.be/TRZAJY23xio&#10;[stevenote] - Steve Jobs - Courage - https://youtu.be/65_PmYipnpk&#10;[Arjun Agarwal] - The Steve Jobs 95 Interview - https://youtu.be/M6Oxl5dAnR0&#10;[Silicon Valley Historical Association] - You have NOTHING to Lose - https://youtu.be/QaTl1k7M9G0&#10;[Ashish Pandey] - Steve Jobs and Bill Gates Face Off - https://youtu.be/Sw8x7ASpRIY&#10;[EverySteveJobsVideo]&#10;Interview on Japanese Public TV - https://youtu.be/GuB-d7jRkCw&#10;Steve Jobs brainstorms with the NeXT team - https://youtu.be/BNeXlJW70KQ&#10;[Joni Mälkki] - Steve Jobs in Sweden - https://youtu.be/2qLuerYx2IA&#10;&#10;♛ BUY MY BOOK, CHANGE YOUR LIFE  ♛&#10;Some used the ideas in this book to build multi-billion-dollar businesses. I'll give you the simple-yet-powerful formula that they used (and you can) to realize your dreams. Get yours.&#10;http://www.evancarmichael.com/oneword/&#10;&#10;ツ  CONNECT WITH ME  ツ&#10;Leave a comment on this video and it'll get a response. Or you can connect with me on different social platforms too:&#10;• Instagram: https://www.instagram.com/evancarmichael/&#10;• Twitter: https://twitter.com/evancarmichael&#10;• Facebook: https://www.facebook.com/EvanCarmichaelcom&#10;• Website: http://www.evancarmichael.com &#10;&#10;.: MORE ABOUT ME PERSONALLY :.&#10;• About: http://www.evancarmichael.com/about/&#10;• Coaching: http://www.evancarmichael.com/movement/&#10;• Speaking: http://www.evancarmichael.com/speaking/&#10;&#10;-----------------------------------------------------------------------------&#10;&#10;Thank you for watching - I really appreciate it :)&#10;Cheers,&#10;Evan&#10;#Believe" id="412" name="Google Shape;412;p45" title="Steve Jobs' Top 10 Rules For Success - Volume 2">
            <a:hlinkClick r:id="rId4"/>
          </p:cNvPr>
          <p:cNvPicPr preferRelativeResize="0"/>
          <p:nvPr/>
        </p:nvPicPr>
        <p:blipFill>
          <a:blip r:embed="rId5">
            <a:alphaModFix/>
          </a:blip>
          <a:stretch>
            <a:fillRect/>
          </a:stretch>
        </p:blipFill>
        <p:spPr>
          <a:xfrm>
            <a:off x="2145938" y="519950"/>
            <a:ext cx="4852126" cy="3639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6" name="Shape 416"/>
        <p:cNvGrpSpPr/>
        <p:nvPr/>
      </p:nvGrpSpPr>
      <p:grpSpPr>
        <a:xfrm>
          <a:off x="0" y="0"/>
          <a:ext cx="0" cy="0"/>
          <a:chOff x="0" y="0"/>
          <a:chExt cx="0" cy="0"/>
        </a:xfrm>
      </p:grpSpPr>
      <p:sp>
        <p:nvSpPr>
          <p:cNvPr id="417" name="Google Shape;417;p4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STORAGE SLIDE</a:t>
            </a:r>
            <a:endParaRPr/>
          </a:p>
          <a:p>
            <a:pPr indent="0" lvl="0" marL="0" rtl="0" algn="l">
              <a:spcBef>
                <a:spcPts val="0"/>
              </a:spcBef>
              <a:spcAft>
                <a:spcPts val="0"/>
              </a:spcAft>
              <a:buNone/>
            </a:pPr>
            <a:r>
              <a:t/>
            </a:r>
            <a:endParaRPr/>
          </a:p>
        </p:txBody>
      </p:sp>
      <p:sp>
        <p:nvSpPr>
          <p:cNvPr id="418" name="Google Shape;418;p4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